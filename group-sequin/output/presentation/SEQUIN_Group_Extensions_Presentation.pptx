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3e6eba30104c2a" /><Relationship Type="http://schemas.openxmlformats.org/officeDocument/2006/relationships/extended-properties" Target="/docProps/app.xml" Id="Rdbf19020101144d2" /><Relationship Type="http://schemas.openxmlformats.org/officeDocument/2006/relationships/officeDocument" Target="/ppt/presentation.xml" Id="Rdc6cd59151b84517" /></Relationships>
</file>

<file path=ppt/presentation.xml><?xml version="1.0" encoding="utf-8"?>
<p:presentation xmlns:p="http://schemas.openxmlformats.org/presentationml/2006/main">
  <p:sldMasterIdLst>
    <p:sldMasterId xmlns:r="http://schemas.openxmlformats.org/officeDocument/2006/relationships" id="2147483648" r:id="R8e659b4d75744cc6"/>
  </p:sldMasterIdLst>
  <p:notesMasterIdLst>
    <p:notesMasterId xmlns:r="http://schemas.openxmlformats.org/officeDocument/2006/relationships" r:id="R513f9aae9f044093"/>
  </p:notesMasterIdLst>
  <p:sldIdLst>
    <p:sldId xmlns:r="http://schemas.openxmlformats.org/officeDocument/2006/relationships" id="256" r:id="Rca07222a47bf42c0"/>
    <p:sldId xmlns:r="http://schemas.openxmlformats.org/officeDocument/2006/relationships" id="257" r:id="Rb40aa062b2614c39"/>
    <p:sldId xmlns:r="http://schemas.openxmlformats.org/officeDocument/2006/relationships" id="258" r:id="R24d56164eb7441f1"/>
    <p:sldId xmlns:r="http://schemas.openxmlformats.org/officeDocument/2006/relationships" id="259" r:id="Rc53d978da40c4fbb"/>
    <p:sldId xmlns:r="http://schemas.openxmlformats.org/officeDocument/2006/relationships" id="260" r:id="R24313f2ae53d42fa"/>
    <p:sldId xmlns:r="http://schemas.openxmlformats.org/officeDocument/2006/relationships" id="261" r:id="Rbd7296ee608c428d"/>
    <p:sldId xmlns:r="http://schemas.openxmlformats.org/officeDocument/2006/relationships" id="262" r:id="R6dbec101cb0549ad"/>
    <p:sldId xmlns:r="http://schemas.openxmlformats.org/officeDocument/2006/relationships" id="263" r:id="R763e364aea3e48bb"/>
    <p:sldId xmlns:r="http://schemas.openxmlformats.org/officeDocument/2006/relationships" id="264" r:id="Rbef5e2c4249e40e2"/>
    <p:sldId xmlns:r="http://schemas.openxmlformats.org/officeDocument/2006/relationships" id="265" r:id="Rfd6ebc3c45574a75"/>
    <p:sldId xmlns:r="http://schemas.openxmlformats.org/officeDocument/2006/relationships" id="266" r:id="R6dc447eb94a54559"/>
    <p:sldId xmlns:r="http://schemas.openxmlformats.org/officeDocument/2006/relationships" id="267" r:id="R38af787eec054e6c"/>
    <p:sldId xmlns:r="http://schemas.openxmlformats.org/officeDocument/2006/relationships" id="268" r:id="Re2e03f90a48744c8"/>
    <p:sldId xmlns:r="http://schemas.openxmlformats.org/officeDocument/2006/relationships" id="269" r:id="R13d803d3639c4fde"/>
    <p:sldId xmlns:r="http://schemas.openxmlformats.org/officeDocument/2006/relationships" id="270" r:id="R1093da4e5679479c"/>
    <p:sldId xmlns:r="http://schemas.openxmlformats.org/officeDocument/2006/relationships" id="271" r:id="R2983773fcc9d4a95"/>
    <p:sldId xmlns:r="http://schemas.openxmlformats.org/officeDocument/2006/relationships" id="272" r:id="R5dd7572278c94731"/>
    <p:sldId xmlns:r="http://schemas.openxmlformats.org/officeDocument/2006/relationships" id="273" r:id="R3d3aa5787dd449b1"/>
    <p:sldId xmlns:r="http://schemas.openxmlformats.org/officeDocument/2006/relationships" id="274" r:id="Rd67377802ed84f56"/>
    <p:sldId xmlns:r="http://schemas.openxmlformats.org/officeDocument/2006/relationships" id="275" r:id="R3ec9289220bc4860"/>
    <p:sldId xmlns:r="http://schemas.openxmlformats.org/officeDocument/2006/relationships" id="276" r:id="Rfb5d885fc7ba4dbc"/>
    <p:sldId xmlns:r="http://schemas.openxmlformats.org/officeDocument/2006/relationships" id="277" r:id="Ref845de8d9644052"/>
    <p:sldId xmlns:r="http://schemas.openxmlformats.org/officeDocument/2006/relationships" id="278" r:id="Rc3fb5731d66e4fa6"/>
    <p:sldId xmlns:r="http://schemas.openxmlformats.org/officeDocument/2006/relationships" id="279" r:id="R98547bf6a5584e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135fcaadb4469f" /><Relationship Type="http://schemas.openxmlformats.org/officeDocument/2006/relationships/slideMaster" Target="/ppt/slideMasters/slideMaster1.xml" Id="R8e659b4d75744cc6" /><Relationship Type="http://schemas.openxmlformats.org/officeDocument/2006/relationships/notesMaster" Target="/ppt/notesMasters/notesMaster1.xml" Id="R513f9aae9f044093" /><Relationship Type="http://schemas.openxmlformats.org/officeDocument/2006/relationships/presProps" Target="/ppt/presProps.xml" Id="R26c489ffe5934b75" /><Relationship Type="http://schemas.openxmlformats.org/officeDocument/2006/relationships/tableStyles" Target="/ppt/tableStyles.xml" Id="Rc6ce87f6325d452d" /><Relationship Type="http://schemas.openxmlformats.org/officeDocument/2006/relationships/slide" Target="/ppt/slides/slide1.xml" Id="Rca07222a47bf42c0" /><Relationship Type="http://schemas.openxmlformats.org/officeDocument/2006/relationships/slide" Target="/ppt/slides/slide2.xml" Id="Rb40aa062b2614c39" /><Relationship Type="http://schemas.openxmlformats.org/officeDocument/2006/relationships/slide" Target="/ppt/slides/slide3.xml" Id="R24d56164eb7441f1" /><Relationship Type="http://schemas.openxmlformats.org/officeDocument/2006/relationships/slide" Target="/ppt/slides/slide4.xml" Id="Rc53d978da40c4fbb" /><Relationship Type="http://schemas.openxmlformats.org/officeDocument/2006/relationships/slide" Target="/ppt/slides/slide5.xml" Id="R24313f2ae53d42fa" /><Relationship Type="http://schemas.openxmlformats.org/officeDocument/2006/relationships/slide" Target="/ppt/slides/slide6.xml" Id="Rbd7296ee608c428d" /><Relationship Type="http://schemas.openxmlformats.org/officeDocument/2006/relationships/slide" Target="/ppt/slides/slide7.xml" Id="R6dbec101cb0549ad" /><Relationship Type="http://schemas.openxmlformats.org/officeDocument/2006/relationships/slide" Target="/ppt/slides/slide8.xml" Id="R763e364aea3e48bb" /><Relationship Type="http://schemas.openxmlformats.org/officeDocument/2006/relationships/slide" Target="/ppt/slides/slide9.xml" Id="Rbef5e2c4249e40e2" /><Relationship Type="http://schemas.openxmlformats.org/officeDocument/2006/relationships/slide" Target="/ppt/slides/slide10.xml" Id="Rfd6ebc3c45574a75" /><Relationship Type="http://schemas.openxmlformats.org/officeDocument/2006/relationships/slide" Target="/ppt/slides/slide11.xml" Id="R6dc447eb94a54559" /><Relationship Type="http://schemas.openxmlformats.org/officeDocument/2006/relationships/slide" Target="/ppt/slides/slide12.xml" Id="R38af787eec054e6c" /><Relationship Type="http://schemas.openxmlformats.org/officeDocument/2006/relationships/slide" Target="/ppt/slides/slide13.xml" Id="Re2e03f90a48744c8" /><Relationship Type="http://schemas.openxmlformats.org/officeDocument/2006/relationships/slide" Target="/ppt/slides/slide14.xml" Id="R13d803d3639c4fde" /><Relationship Type="http://schemas.openxmlformats.org/officeDocument/2006/relationships/slide" Target="/ppt/slides/slide15.xml" Id="R1093da4e5679479c" /><Relationship Type="http://schemas.openxmlformats.org/officeDocument/2006/relationships/slide" Target="/ppt/slides/slide16.xml" Id="R2983773fcc9d4a95" /><Relationship Type="http://schemas.openxmlformats.org/officeDocument/2006/relationships/slide" Target="/ppt/slides/slide17.xml" Id="R5dd7572278c94731" /><Relationship Type="http://schemas.openxmlformats.org/officeDocument/2006/relationships/slide" Target="/ppt/slides/slide18.xml" Id="R3d3aa5787dd449b1" /><Relationship Type="http://schemas.openxmlformats.org/officeDocument/2006/relationships/slide" Target="/ppt/slides/slide19.xml" Id="Rd67377802ed84f56" /><Relationship Type="http://schemas.openxmlformats.org/officeDocument/2006/relationships/slide" Target="/ppt/slides/slide20.xml" Id="R3ec9289220bc4860" /><Relationship Type="http://schemas.openxmlformats.org/officeDocument/2006/relationships/slide" Target="/ppt/slides/slide21.xml" Id="Rfb5d885fc7ba4dbc" /><Relationship Type="http://schemas.openxmlformats.org/officeDocument/2006/relationships/slide" Target="/ppt/slides/slide22.xml" Id="Ref845de8d9644052" /><Relationship Type="http://schemas.openxmlformats.org/officeDocument/2006/relationships/slide" Target="/ppt/slides/slide23.xml" Id="Rc3fb5731d66e4fa6" /><Relationship Type="http://schemas.openxmlformats.org/officeDocument/2006/relationships/slide" Target="/ppt/slides/slide24.xml" Id="R98547bf6a5584e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e72cd95dad43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43d4f5d45c4269" /><Relationship Type="http://schemas.openxmlformats.org/officeDocument/2006/relationships/notesMaster" Target="/ppt/notesMasters/notesMaster1.xml" Id="R3c9e3b3b1efb4a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1be7b86a954e29" /><Relationship Type="http://schemas.openxmlformats.org/officeDocument/2006/relationships/notesMaster" Target="/ppt/notesMasters/notesMaster1.xml" Id="Re849f7147db346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bce97046c44e83" /><Relationship Type="http://schemas.openxmlformats.org/officeDocument/2006/relationships/notesMaster" Target="/ppt/notesMasters/notesMaster1.xml" Id="R8f30c0c45c3a47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504394d7624dc2" /><Relationship Type="http://schemas.openxmlformats.org/officeDocument/2006/relationships/notesMaster" Target="/ppt/notesMasters/notesMaster1.xml" Id="Rf9bf3bcb64f84f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903280639f4eac" /><Relationship Type="http://schemas.openxmlformats.org/officeDocument/2006/relationships/notesMaster" Target="/ppt/notesMasters/notesMaster1.xml" Id="R9ef6b60c421f4e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97235f73a547c9" /><Relationship Type="http://schemas.openxmlformats.org/officeDocument/2006/relationships/notesMaster" Target="/ppt/notesMasters/notesMaster1.xml" Id="Re3660c64243e4b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30a6092092402a" /><Relationship Type="http://schemas.openxmlformats.org/officeDocument/2006/relationships/notesMaster" Target="/ppt/notesMasters/notesMaster1.xml" Id="R1660560b9b9644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4ef725c4244293" /><Relationship Type="http://schemas.openxmlformats.org/officeDocument/2006/relationships/notesMaster" Target="/ppt/notesMasters/notesMaster1.xml" Id="R4d950f7e8cef4e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781717e16a4e2c" /><Relationship Type="http://schemas.openxmlformats.org/officeDocument/2006/relationships/notesMaster" Target="/ppt/notesMasters/notesMaster1.xml" Id="Ree61c6feb2d548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ad738b410e4ecf" /><Relationship Type="http://schemas.openxmlformats.org/officeDocument/2006/relationships/notesMaster" Target="/ppt/notesMasters/notesMaster1.xml" Id="R76e9d2a7985949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d65ab85f8849f0" /><Relationship Type="http://schemas.openxmlformats.org/officeDocument/2006/relationships/notesMaster" Target="/ppt/notesMasters/notesMaster1.xml" Id="R53a2926ed45047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ee85e48f3d4d6c" /><Relationship Type="http://schemas.openxmlformats.org/officeDocument/2006/relationships/notesMaster" Target="/ppt/notesMasters/notesMaster1.xml" Id="R2ec4253c419b46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05b0a349a14f4d" /><Relationship Type="http://schemas.openxmlformats.org/officeDocument/2006/relationships/notesMaster" Target="/ppt/notesMasters/notesMaster1.xml" Id="R91657581d82942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68696305cc46ba" /><Relationship Type="http://schemas.openxmlformats.org/officeDocument/2006/relationships/notesMaster" Target="/ppt/notesMasters/notesMaster1.xml" Id="R5d4b928a8f3940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66bea148e94040" /><Relationship Type="http://schemas.openxmlformats.org/officeDocument/2006/relationships/notesMaster" Target="/ppt/notesMasters/notesMaster1.xml" Id="R204b3c6e755b4e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386d6d6a964d66" /><Relationship Type="http://schemas.openxmlformats.org/officeDocument/2006/relationships/notesMaster" Target="/ppt/notesMasters/notesMaster1.xml" Id="Rb194c81da60840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3c0a314503473d" /><Relationship Type="http://schemas.openxmlformats.org/officeDocument/2006/relationships/notesMaster" Target="/ppt/notesMasters/notesMaster1.xml" Id="R02a7bc9f579940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496d6d63cb46b9" /><Relationship Type="http://schemas.openxmlformats.org/officeDocument/2006/relationships/notesMaster" Target="/ppt/notesMasters/notesMaster1.xml" Id="R67c95bb4ab9446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59ce1754c24e98" /><Relationship Type="http://schemas.openxmlformats.org/officeDocument/2006/relationships/notesMaster" Target="/ppt/notesMasters/notesMaster1.xml" Id="R194f50a1225f4f3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cf5da4589c4a7a" /><Relationship Type="http://schemas.openxmlformats.org/officeDocument/2006/relationships/notesMaster" Target="/ppt/notesMasters/notesMaster1.xml" Id="R87fd0d4ce6de47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dc56281ddb34fb3" /><Relationship Type="http://schemas.openxmlformats.org/officeDocument/2006/relationships/notesMaster" Target="/ppt/notesMasters/notesMaster1.xml" Id="R21acca0da2b14e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392bc058e44ef5" /><Relationship Type="http://schemas.openxmlformats.org/officeDocument/2006/relationships/notesMaster" Target="/ppt/notesMasters/notesMaster1.xml" Id="R122dbf0180ef48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fe5e755a664981" /><Relationship Type="http://schemas.openxmlformats.org/officeDocument/2006/relationships/notesMaster" Target="/ppt/notesMasters/notesMaster1.xml" Id="R427ba2a35232436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f91674c2cc84790" /><Relationship Type="http://schemas.openxmlformats.org/officeDocument/2006/relationships/notesMaster" Target="/ppt/notesMasters/notesMaster1.xml" Id="R1676322208c64f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this work extends the group's independent Python reproduction. The paper authors' Julia implementation is separate. Source: https://github.com/AlankritGupta584/sequin-python-reproduction commit e03e8495fb67af50f00c52daa75908e34960f151. Paper: Chio et al., ICCPS 2025, DOI 10.1145/3716550.3722029.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road-network analogy, then explain that power flows obey physical equations and cannot be arbitrarily routed. The defender is myopic. Cite Chio et al., ICCPS 2025, Sections 3-4, DOI 10.1145/3716550.3722029.</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 is in MW in this code. The original loss output divides by baseMVA. A generator can switch off completely. The group code permits later restart because it does not carry z. The paper describes no restart in Eq. 2f. No AC voltage, frequency, relay or transient simulation.</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three files already existed upstream. New responses still use this repository's grid_model.defend. The earlier neighboring sequin package is only imported by the optional comparison phase.</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additional angle-box, negative-injection and RNG differences in the report. No single factor is established as the cause of every mismatch. The six supplied cases have zero quadratic costs and active shunts, so those generic feature differences do not explain these measurements.</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model-comparison example, not a quality ranking. Different dispatch choices, shutdown/restart semantics and numerical settings can alter later ramp states. Default-compatibility replay of the new defender against untouched upstream source gives exactly matching generation and service on all 26 probes.</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failed prefix is [83,5,19,228,196,177,212,219]. The original driver skipped the unsuccessful response. Case-14 guided results match selected reference budgets. Case-39 guided k=6 differs by about -2.075%, slightly beyond its 2% checker threshold. Full benchmark rows and the recorded solver status remain in results/. This does not establish exact reproduction of every paper result.</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explicitly proposes ruggedization and variable epochs as future work in Section 6. Priority service is a realistic course-project extension with synthetic labels. Do not claim these general research ideas are invented here.</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Protection has 1648 rows, timing 1728, and priority 23296. Row counts include deterministic repeats and policy comparisons. Protection design seeds 0/1/2 and held-out seeds 100-104 are separate. Other studies use demand seeds 0/1/2.</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Protection changes outage eligibility only. It leaves physical response on an eligible sequence unchanged, so filtering complete tables is valid. Exact outer protection enumeration for q&lt;=2 is a separate small-instance oracle. Greedy has no general global guarantee.</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Lower loss is better. Each point averages held-out scenario worst losses, not a fixed common attack. At q=2 the scenario design helps substantially. At q=1 it fails to improve held-out worst loss, while the single-scenario plan does improve it. This is an important generalization caveat.</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Initial-flow protection slightly outperforms the robust design on held-out seeds at q=2. The scenario design improves more at q=3. Training-objective optimality does not establish the best unseen-scenario performance. Include both outcomes in the presentation.</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cell is a case, demand seed, ramp, demand spread and budget combination. Unperturbed seeds duplicate the same demand. Infeasible starting cases have no fabricated attack loss. The line plan remains frozen during stress evaluation.</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simultaneous policy loses the whole set in the first window, then can respond twice more. Each window uses alpha Pmax times duration/5. Horizons are 7.5/15/30 minutes. Rates are derived assumptions, not equipment measurements.</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final-loss maximum and proxy-energy maximum may use different sequences. The snapshot proxy sums endpoint loss times duration, normalized by initial demand times horizon. It is not physical integration of continuous ramping. A worse final loss can still have a smaller proxy when it appears late.</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response-then-hold snapshot proxy every time you interpret MWh. Do not call it a validated blackout-energy forecast. Restore-load dynamics, continuous ramps and transient feasibility are future work.</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 seed 17 selects positive-demand buses. Fractions are bus counts, not MW fractions, and assignments need not be nested. One group assignment per size is a limitation. The original total-service policy is retained as an extra comparison.</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Higher retention is better. Each policy is evaluated on exactly the same sequence set within a scenario. Case 14 is exhaustive. Cases 39/118 are sampled worst-found results, including critical-loss-targeted attacks. Rounded 100% retention is not a guarantee against unsearched attacks.</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full scenario and attack from priority_examples.json if asked. A negative gain means critical-first harmed later critical service. Myopic optimization maximizes service now, not across all future outages. Extra total loss can reflect a deliberate sacrifice of ordinary load.</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interpret these counts as independent event probabilities. They include repeated configurations and demand scenarios. The matched-precision total-service control separates the policy objective from the default solver gap.</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exported residual maximum is 1e-06 native row units. Residual checks validate the implemented mathematical constraints, not real-grid adequacy. Exact tables do not handle all dispatch ties or remove numerical MIP tolerances.</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improvement, inconclusion and failure honestly. None of these studies establishes broad real-world safety. The work completes the bounded second-part course-project scope.</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Prioritize joint robust protection because stress failures were measured, and targeted critical search because the larger cohorts are small. Operator lookahead can test whether myopic choices explain adverse priority cases.</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presenting live, run the saved demo first. Optimization is offline, so the browser only selects precomputed traces. Commands and artifact locations are in EXTENSIONS_README.md and PRESENTATION_GUIDE.md.</a:t>
            </a:r>
          </a:p>
          <a:p xmlns:a="http://schemas.openxmlformats.org/drawingml/2006/main">
            <a:r>
              <a:t>Source: group-sequin/results/extensions/; 67cc294651c518a56c9ffbee8975e3c1aa1582e72a8af3478aa7bbf75be86d80. Group upstream e03e8495fb67af50f00c52daa75908e34960f151.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94810a7dd149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8f3a3dcb4a4b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b037ecce444a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2adad6442e45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10722ab2464b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c64fb453bd40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975807-E9EE-493C-A35E-1D7E56FD451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48DBE7-C0FC-468A-B8CE-31A8DEB6182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C41449-E182-4B06-A55F-96DEBE50272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8C9993-A2C5-47D3-8796-610A938E6C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8037B2-E654-4593-885B-BE1CC7282A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3928A8-DC97-4CD8-8996-1B63C7F063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618037-14D7-45A1-9FE3-5580DC71A5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072BD8-B81A-44AF-8DA7-273D83F5E74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032956-4FC3-4658-A622-9F0CDBE5FD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E7E43E-CDD0-4D52-A5A3-86E18D55EF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7d89c3a5f94eb2" /><Relationship Type="http://schemas.openxmlformats.org/officeDocument/2006/relationships/slideLayout" Target="/ppt/slideLayouts/slideLayout1.xml" Id="R88b170fc031b4f54" /><Relationship Type="http://schemas.openxmlformats.org/officeDocument/2006/relationships/slideLayout" Target="/ppt/slideLayouts/slideLayout2.xml" Id="R1b96c594a7a04af1" /><Relationship Type="http://schemas.openxmlformats.org/officeDocument/2006/relationships/slideLayout" Target="/ppt/slideLayouts/slideLayout3.xml" Id="Rf0ca76adddec481f" /><Relationship Type="http://schemas.openxmlformats.org/officeDocument/2006/relationships/slideLayout" Target="/ppt/slideLayouts/slideLayout4.xml" Id="R5d7ada3cff9a4694" /><Relationship Type="http://schemas.openxmlformats.org/officeDocument/2006/relationships/slideLayout" Target="/ppt/slideLayouts/slideLayout5.xml" Id="R8d2d162fb6d44750" /><Relationship Type="http://schemas.openxmlformats.org/officeDocument/2006/relationships/slideLayout" Target="/ppt/slideLayouts/slideLayout6.xml" Id="R6594d887c85344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b170fc031b4f54"/>
    <p:sldLayoutId xmlns:r="http://schemas.openxmlformats.org/officeDocument/2006/relationships" id="2147483650" r:id="R1b96c594a7a04af1"/>
    <p:sldLayoutId xmlns:r="http://schemas.openxmlformats.org/officeDocument/2006/relationships" id="2147483651" r:id="Rf0ca76adddec481f"/>
    <p:sldLayoutId xmlns:r="http://schemas.openxmlformats.org/officeDocument/2006/relationships" id="2147483652" r:id="R5d7ada3cff9a4694"/>
    <p:sldLayoutId xmlns:r="http://schemas.openxmlformats.org/officeDocument/2006/relationships" id="2147483653" r:id="R8d2d162fb6d44750"/>
    <p:sldLayoutId xmlns:r="http://schemas.openxmlformats.org/officeDocument/2006/relationships" id="2147483654" r:id="R6594d887c85344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4938dbd77b42e8" /><Relationship Type="http://schemas.openxmlformats.org/officeDocument/2006/relationships/notesSlide" Target="/ppt/notesSlides/notesSlide1.xml" Id="R9af0bbcd207e49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b593bec5a84d8c" /><Relationship Type="http://schemas.openxmlformats.org/officeDocument/2006/relationships/notesSlide" Target="/ppt/notesSlides/notesSlide2.xml" Id="R4e458edeb90040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c62d0df96d4812" /><Relationship Type="http://schemas.openxmlformats.org/officeDocument/2006/relationships/notesSlide" Target="/ppt/notesSlides/notesSlide3.xml" Id="R919289aab51044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9d69411044b4d3a" /><Relationship Type="http://schemas.openxmlformats.org/officeDocument/2006/relationships/notesSlide" Target="/ppt/notesSlides/notesSlide4.xml" Id="Re8879405edac4f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c3cbe82aa147c7" /><Relationship Type="http://schemas.openxmlformats.org/officeDocument/2006/relationships/notesSlide" Target="/ppt/notesSlides/notesSlide5.xml" Id="R0e0c5909bc284e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e7db7486d94fe9" /><Relationship Type="http://schemas.openxmlformats.org/officeDocument/2006/relationships/chart" Target="/ppt/slides/charts/chart1.xml" Id="R684249bac64948cd" /><Relationship Type="http://schemas.openxmlformats.org/officeDocument/2006/relationships/notesSlide" Target="/ppt/notesSlides/notesSlide6.xml" Id="Rba559248648b4c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5285fc4721409d" /><Relationship Type="http://schemas.openxmlformats.org/officeDocument/2006/relationships/notesSlide" Target="/ppt/notesSlides/notesSlide7.xml" Id="Rbf577b3a6f8440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78938f32660424b" /><Relationship Type="http://schemas.openxmlformats.org/officeDocument/2006/relationships/notesSlide" Target="/ppt/notesSlides/notesSlide8.xml" Id="R7b7329f3543241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abd229db48140dc" /><Relationship Type="http://schemas.openxmlformats.org/officeDocument/2006/relationships/notesSlide" Target="/ppt/notesSlides/notesSlide9.xml" Id="Rf56b6a17f2d140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0ebd7bf73f942aa" /><Relationship Type="http://schemas.openxmlformats.org/officeDocument/2006/relationships/notesSlide" Target="/ppt/notesSlides/notesSlide10.xml" Id="R64742efed9fb4f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1ff0df9414241bf" /><Relationship Type="http://schemas.openxmlformats.org/officeDocument/2006/relationships/chart" Target="/ppt/slides/charts/chart2.xml" Id="Ra50cba0ef1bd4f14" /><Relationship Type="http://schemas.openxmlformats.org/officeDocument/2006/relationships/notesSlide" Target="/ppt/notesSlides/notesSlide11.xml" Id="R1e96e3040db442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04bff635be84678" /><Relationship Type="http://schemas.openxmlformats.org/officeDocument/2006/relationships/chart" Target="/ppt/slides/charts/chart3.xml" Id="R14eda23da0ed43ee" /><Relationship Type="http://schemas.openxmlformats.org/officeDocument/2006/relationships/notesSlide" Target="/ppt/notesSlides/notesSlide12.xml" Id="R615ea85802e34b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20cbdefe2543b6" /><Relationship Type="http://schemas.openxmlformats.org/officeDocument/2006/relationships/notesSlide" Target="/ppt/notesSlides/notesSlide13.xml" Id="Rd681442bae1c47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c443b1b134f426d" /><Relationship Type="http://schemas.openxmlformats.org/officeDocument/2006/relationships/notesSlide" Target="/ppt/notesSlides/notesSlide14.xml" Id="R4cfdd3f8512e49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13f7acb8f7e42d9" /><Relationship Type="http://schemas.openxmlformats.org/officeDocument/2006/relationships/chart" Target="/ppt/slides/charts/chart4.xml" Id="Rad5c80bf196f437a" /><Relationship Type="http://schemas.openxmlformats.org/officeDocument/2006/relationships/chart" Target="/ppt/slides/charts/chart5.xml" Id="Rbefbcc3dde9949d5" /><Relationship Type="http://schemas.openxmlformats.org/officeDocument/2006/relationships/notesSlide" Target="/ppt/notesSlides/notesSlide15.xml" Id="R8da147e49d7b4b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b41d85168cc41e8" /><Relationship Type="http://schemas.openxmlformats.org/officeDocument/2006/relationships/notesSlide" Target="/ppt/notesSlides/notesSlide16.xml" Id="R5aed87717f5f4a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a1aa28e7e244775" /><Relationship Type="http://schemas.openxmlformats.org/officeDocument/2006/relationships/notesSlide" Target="/ppt/notesSlides/notesSlide17.xml" Id="R42808ad36d1c4a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41ddd7c85524d09" /><Relationship Type="http://schemas.openxmlformats.org/officeDocument/2006/relationships/chart" Target="/ppt/slides/charts/chart6.xml" Id="R989a97ce14bf4df7" /><Relationship Type="http://schemas.openxmlformats.org/officeDocument/2006/relationships/notesSlide" Target="/ppt/notesSlides/notesSlide18.xml" Id="R2cb7dfe5cf3444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4f6ecc9ae74aeb" /><Relationship Type="http://schemas.openxmlformats.org/officeDocument/2006/relationships/notesSlide" Target="/ppt/notesSlides/notesSlide19.xml" Id="Rffc6627a8f9a45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60f0630465b4912" /><Relationship Type="http://schemas.openxmlformats.org/officeDocument/2006/relationships/notesSlide" Target="/ppt/notesSlides/notesSlide20.xml" Id="R70cf37131c794b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8a2cf0d2e8c41de" /><Relationship Type="http://schemas.openxmlformats.org/officeDocument/2006/relationships/notesSlide" Target="/ppt/notesSlides/notesSlide21.xml" Id="R6f4659e4f88d43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cf2e198e852461e" /><Relationship Type="http://schemas.openxmlformats.org/officeDocument/2006/relationships/notesSlide" Target="/ppt/notesSlides/notesSlide22.xml" Id="R2c2791d06944456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ad37fd7381f4d1e" /><Relationship Type="http://schemas.openxmlformats.org/officeDocument/2006/relationships/notesSlide" Target="/ppt/notesSlides/notesSlide23.xml" Id="Rbde16807e4374dc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0c81bdc0bf647a0" /><Relationship Type="http://schemas.openxmlformats.org/officeDocument/2006/relationships/notesSlide" Target="/ppt/notesSlides/notesSlide24.xml" Id="Rcb32ac9dd33d4ba8" /></Relationships>
</file>

<file path=ppt/slides/charts/chart1.xml><?xml version="1.0" encoding="utf-8"?>
<c:chartSpace xmlns:c="http://schemas.openxmlformats.org/drawingml/2006/chart">
  <c:lang val="en-US"/>
  <c:chart>
    <c:title>
      <c:txPr>
        <a:bodyPr xmlns:a="http://schemas.openxmlformats.org/drawingml/2006/main" anchorCtr="1"/>
        <a:lstStyle xmlns:a="http://schemas.openxmlformats.org/drawingml/2006/main"/>
        <a:p xmlns:a="http://schemas.openxmlformats.org/drawingml/2006/main">
          <a:pPr>
            <a:defRPr sz="1950">
              <a:solidFill>
                <a:srgbClr val="183544"/>
              </a:solidFill>
            </a:defRPr>
          </a:pPr>
        </a:p>
      </c:txPr>
    </c:title>
    <c:plotArea>
      <c:barChart>
        <c:barDir val="col"/>
        <c:grouping val="clustered"/>
        <c:varyColors val="0"/>
        <c:ser>
          <c:idx val="0"/>
          <c:order val="0"/>
          <c:tx>
            <c:v>Group</c:v>
          </c:tx>
          <c:spPr>
            <a:solidFill xmlns:a="http://schemas.openxmlformats.org/drawingml/2006/main">
              <a:srgbClr val="087F8C"/>
            </a:solidFill>
            <a:ln xmlns:a="http://schemas.openxmlformats.org/drawingml/2006/main" w="28575">
              <a:solidFill>
                <a:srgbClr val="087F8C"/>
              </a:solidFill>
              <a:prstDash val="solid"/>
            </a:ln>
          </c:spPr>
          <c:invertIfNegative val="0"/>
          <c:cat>
            <c:strLit>
              <c:ptCount val="2"/>
              <c:pt idx="0">
                <c:v>Case 14 (3,1)</c:v>
              </c:pt>
              <c:pt idx="1">
                <c:v>Case 118 (104,97)</c:v>
              </c:pt>
            </c:strLit>
          </c:cat>
          <c:val>
            <c:numLit>
              <c:formatCode>0.0</c:formatCode>
              <c:ptCount val="2"/>
              <c:pt idx="0">
                <c:v>439.97</c:v>
              </c:pt>
              <c:pt idx="1">
                <c:v>531.398</c:v>
              </c:pt>
            </c:numLit>
          </c:val>
        </c:ser>
        <c:ser>
          <c:idx val="1"/>
          <c:order val="1"/>
          <c:tx>
            <c:v>Earlier project</c:v>
          </c:tx>
          <c:spPr>
            <a:solidFill xmlns:a="http://schemas.openxmlformats.org/drawingml/2006/main">
              <a:srgbClr val="CF5C36"/>
            </a:solidFill>
            <a:ln xmlns:a="http://schemas.openxmlformats.org/drawingml/2006/main" w="28575">
              <a:solidFill>
                <a:srgbClr val="CF5C36"/>
              </a:solidFill>
              <a:prstDash val="solid"/>
            </a:ln>
          </c:spPr>
          <c:invertIfNegative val="0"/>
          <c:cat>
            <c:strLit>
              <c:ptCount val="2"/>
              <c:pt idx="0">
                <c:v>Case 14 (3,1)</c:v>
              </c:pt>
              <c:pt idx="1">
                <c:v>Case 118 (104,97)</c:v>
              </c:pt>
            </c:strLit>
          </c:cat>
          <c:val>
            <c:numLit>
              <c:formatCode>0.0</c:formatCode>
              <c:ptCount val="2"/>
              <c:pt idx="0">
                <c:v>462.97</c:v>
              </c:pt>
              <c:pt idx="1">
                <c:v>1192.347</c:v>
              </c:pt>
            </c:numLit>
          </c:val>
        </c:ser>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AC8CB"/>
            </a:solidFill>
          </a:ln>
        </c:spPr>
        <c:txPr>
          <a:bodyPr xmlns:a="http://schemas.openxmlformats.org/drawingml/2006/main" anchorCtr="1"/>
          <a:lstStyle xmlns:a="http://schemas.openxmlformats.org/drawingml/2006/main"/>
          <a:p xmlns:a="http://schemas.openxmlformats.org/drawingml/2006/main">
            <a:pPr>
              <a:defRPr sz="1650">
                <a:solidFill>
                  <a:srgbClr val="183544"/>
                </a:solidFill>
              </a:defRPr>
            </a:pPr>
          </a:p>
        </c:txPr>
        <c:crossAx val="48672768"/>
      </c:catAx>
      <c:valAx>
        <c:axId val="48672768"/>
        <c:scaling>
          <c:orientation val="minMax"/>
          <c:min val="0"/>
        </c:scaling>
        <c:delete val="0"/>
        <c:axPos val="l"/>
        <c:majorGridlines>
          <c:spPr>
            <a:ln xmlns:a="http://schemas.openxmlformats.org/drawingml/2006/main" w="9525">
              <a:solidFill>
                <a:srgbClr val="D6DFDF"/>
              </a:solidFill>
              <a:prstDash val="solid"/>
            </a:ln>
          </c:spPr>
        </c:majorGridlines>
        <c:title>
          <c:tx>
            <c:rich>
              <a:bodyPr xmlns:a="http://schemas.openxmlformats.org/drawingml/2006/main"/>
              <a:lstStyle xmlns:a="http://schemas.openxmlformats.org/drawingml/2006/main"/>
              <a:p xmlns:a="http://schemas.openxmlformats.org/drawingml/2006/main">
                <a:r>
                  <a:t>Final shed MW</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544"/>
                </a:solidFill>
              </a:defRPr>
            </a:pPr>
          </a:p>
        </c:txPr>
        <c:crossAx val="48650112"/>
        <c:crossBetween val="between"/>
      </c:valAx>
      <c:spPr>
        <a:solidFill xmlns:a="http://schemas.openxmlformats.org/drawingml/2006/main">
          <a:srgbClr val="F5F3EE"/>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544"/>
              </a:solidFill>
            </a:defRPr>
          </a:pPr>
        </a:p>
      </c:txPr>
    </c:legend>
    <c:plotVisOnly val="1"/>
  </c:chart>
  <c:spPr>
    <a:solidFill xmlns:a="http://schemas.openxmlformats.org/drawingml/2006/main">
      <a:srgbClr val="F5F3EE"/>
    </a:solidFill>
  </c:spPr>
</c:chartSpace>
</file>

<file path=ppt/slides/charts/chart2.xml><?xml version="1.0" encoding="utf-8"?>
<c:chartSpace xmlns:c="http://schemas.openxmlformats.org/drawingml/2006/chart">
  <c:lang val="en-US"/>
  <c:chart>
    <c:title>
      <c:txPr>
        <a:bodyPr xmlns:a="http://schemas.openxmlformats.org/drawingml/2006/main" anchorCtr="1"/>
        <a:lstStyle xmlns:a="http://schemas.openxmlformats.org/drawingml/2006/main"/>
        <a:p xmlns:a="http://schemas.openxmlformats.org/drawingml/2006/main">
          <a:pPr>
            <a:defRPr sz="1950">
              <a:solidFill>
                <a:srgbClr val="183544"/>
              </a:solidFill>
            </a:defRPr>
          </a:pPr>
        </a:p>
      </c:txPr>
    </c:title>
    <c:plotArea>
      <c:lineChart>
        <c:grouping val="standard"/>
        <c:varyColors val="0"/>
        <c:ser>
          <c:idx val="0"/>
          <c:order val="0"/>
          <c:tx>
            <c:v>Scenario design</c:v>
          </c:tx>
          <c:spPr>
            <a:solidFill xmlns:a="http://schemas.openxmlformats.org/drawingml/2006/main">
              <a:srgbClr val="087F8C"/>
            </a:solidFill>
            <a:ln xmlns:a="http://schemas.openxmlformats.org/drawingml/2006/main" w="28575">
              <a:solidFill>
                <a:srgbClr val="087F8C"/>
              </a:solidFill>
              <a:prstDash val="solid"/>
            </a:ln>
          </c:spPr>
          <c:marker>
            <c:symbol val="none"/>
          </c:marker>
          <c:cat>
            <c:numLit>
              <c:formatCode>General</c:formatCode>
              <c:ptCount val="4"/>
              <c:pt idx="0">
                <c:v>0</c:v>
              </c:pt>
              <c:pt idx="1">
                <c:v>1</c:v>
              </c:pt>
              <c:pt idx="2">
                <c:v>2</c:v>
              </c:pt>
              <c:pt idx="3">
                <c:v>3</c:v>
              </c:pt>
            </c:numLit>
          </c:cat>
          <c:val>
            <c:numLit>
              <c:formatCode>0.0</c:formatCode>
              <c:ptCount val="4"/>
              <c:pt idx="0">
                <c:v>95.04360542069989</c:v>
              </c:pt>
              <c:pt idx="1">
                <c:v>95.04360542069983</c:v>
              </c:pt>
              <c:pt idx="2">
                <c:v>84.87011828822624</c:v>
              </c:pt>
              <c:pt idx="3">
                <c:v>84.87011828822624</c:v>
              </c:pt>
            </c:numLit>
          </c:val>
          <c:smooth val="0"/>
        </c:ser>
        <c:ser>
          <c:idx val="1"/>
          <c:order val="1"/>
          <c:tx>
            <c:v>Initial flow</c:v>
          </c:tx>
          <c:spPr>
            <a:solidFill xmlns:a="http://schemas.openxmlformats.org/drawingml/2006/main">
              <a:srgbClr val="CF5C36"/>
            </a:solidFill>
            <a:ln xmlns:a="http://schemas.openxmlformats.org/drawingml/2006/main" w="28575">
              <a:solidFill>
                <a:srgbClr val="CF5C36"/>
              </a:solidFill>
              <a:prstDash val="solid"/>
            </a:ln>
          </c:spPr>
          <c:marker>
            <c:symbol val="none"/>
          </c:marker>
          <c:cat>
            <c:numLit>
              <c:formatCode>General</c:formatCode>
              <c:ptCount val="4"/>
              <c:pt idx="0">
                <c:v>0</c:v>
              </c:pt>
              <c:pt idx="1">
                <c:v>1</c:v>
              </c:pt>
              <c:pt idx="2">
                <c:v>2</c:v>
              </c:pt>
              <c:pt idx="3">
                <c:v>3</c:v>
              </c:pt>
            </c:numLit>
          </c:cat>
          <c:val>
            <c:numLit>
              <c:formatCode>0.0</c:formatCode>
              <c:ptCount val="4"/>
              <c:pt idx="0">
                <c:v>95.04360542069989</c:v>
              </c:pt>
              <c:pt idx="1">
                <c:v>95.04360542069989</c:v>
              </c:pt>
              <c:pt idx="2">
                <c:v>93.32091714376942</c:v>
              </c:pt>
              <c:pt idx="3">
                <c:v>93.32091714376942</c:v>
              </c:pt>
            </c:numLit>
          </c:val>
          <c:smooth val="0"/>
        </c:ser>
        <c:ser>
          <c:idx val="2"/>
          <c:order val="2"/>
          <c:tx>
            <c:v>Single scenario</c:v>
          </c:tx>
          <c:spPr>
            <a:solidFill xmlns:a="http://schemas.openxmlformats.org/drawingml/2006/main">
              <a:srgbClr val="6554A4"/>
            </a:solidFill>
            <a:ln xmlns:a="http://schemas.openxmlformats.org/drawingml/2006/main" w="28575">
              <a:solidFill>
                <a:srgbClr val="6554A4"/>
              </a:solidFill>
              <a:prstDash val="solid"/>
            </a:ln>
          </c:spPr>
          <c:marker>
            <c:symbol val="none"/>
          </c:marker>
          <c:cat>
            <c:numLit>
              <c:formatCode>General</c:formatCode>
              <c:ptCount val="4"/>
              <c:pt idx="0">
                <c:v>0</c:v>
              </c:pt>
              <c:pt idx="1">
                <c:v>1</c:v>
              </c:pt>
              <c:pt idx="2">
                <c:v>2</c:v>
              </c:pt>
              <c:pt idx="3">
                <c:v>3</c:v>
              </c:pt>
            </c:numLit>
          </c:cat>
          <c:val>
            <c:numLit>
              <c:formatCode>0.0</c:formatCode>
              <c:ptCount val="4"/>
              <c:pt idx="0">
                <c:v>95.04360542069989</c:v>
              </c:pt>
              <c:pt idx="1">
                <c:v>93.32091714376942</c:v>
              </c:pt>
              <c:pt idx="2">
                <c:v>84.87011828822624</c:v>
              </c:pt>
              <c:pt idx="3">
                <c:v>84.87011828822624</c:v>
              </c:pt>
            </c:numLit>
          </c:val>
          <c:smooth val="0"/>
        </c:ser>
        <c:ser>
          <c:idx val="3"/>
          <c:order val="3"/>
          <c:tx>
            <c:v>Simultaneous design</c:v>
          </c:tx>
          <c:spPr>
            <a:solidFill xmlns:a="http://schemas.openxmlformats.org/drawingml/2006/main">
              <a:srgbClr val="8A8D91"/>
            </a:solidFill>
            <a:ln xmlns:a="http://schemas.openxmlformats.org/drawingml/2006/main" w="28575">
              <a:solidFill>
                <a:srgbClr val="8A8D91"/>
              </a:solidFill>
              <a:prstDash val="solid"/>
            </a:ln>
          </c:spPr>
          <c:marker>
            <c:symbol val="none"/>
          </c:marker>
          <c:cat>
            <c:numLit>
              <c:formatCode>General</c:formatCode>
              <c:ptCount val="4"/>
              <c:pt idx="0">
                <c:v>0</c:v>
              </c:pt>
              <c:pt idx="1">
                <c:v>1</c:v>
              </c:pt>
              <c:pt idx="2">
                <c:v>2</c:v>
              </c:pt>
              <c:pt idx="3">
                <c:v>3</c:v>
              </c:pt>
            </c:numLit>
          </c:cat>
          <c:val>
            <c:numLit>
              <c:formatCode>0.0</c:formatCode>
              <c:ptCount val="4"/>
              <c:pt idx="0">
                <c:v>95.04360542069989</c:v>
              </c:pt>
              <c:pt idx="1">
                <c:v>95.04360542069989</c:v>
              </c:pt>
              <c:pt idx="2">
                <c:v>95.04360542069989</c:v>
              </c:pt>
              <c:pt idx="3">
                <c:v>95.04360542069989</c:v>
              </c:pt>
            </c:numLit>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Protected lines q</a:t>
                </a:r>
              </a:p>
            </c:rich>
          </c:tx>
          <c:overlay val="0"/>
        </c:title>
        <c:numFmt formatCode="General"/>
        <c:majorTickMark val="none"/>
        <c:minorTickMark val="none"/>
        <c:spPr>
          <a:ln xmlns:a="http://schemas.openxmlformats.org/drawingml/2006/main" w="9525">
            <a:solidFill>
              <a:srgbClr val="BAC8CB"/>
            </a:solidFill>
          </a:ln>
        </c:spPr>
        <c:txPr>
          <a:bodyPr xmlns:a="http://schemas.openxmlformats.org/drawingml/2006/main" anchorCtr="1"/>
          <a:lstStyle xmlns:a="http://schemas.openxmlformats.org/drawingml/2006/main"/>
          <a:p xmlns:a="http://schemas.openxmlformats.org/drawingml/2006/main">
            <a:pPr>
              <a:defRPr sz="1650">
                <a:solidFill>
                  <a:srgbClr val="183544"/>
                </a:solidFill>
              </a:defRPr>
            </a:pPr>
          </a:p>
        </c:txPr>
        <c:crossAx val="48672768"/>
      </c:catAx>
      <c:valAx>
        <c:axId val="48672768"/>
        <c:scaling>
          <c:orientation val="minMax"/>
        </c:scaling>
        <c:delete val="0"/>
        <c:axPos val="l"/>
        <c:majorGridlines>
          <c:spPr>
            <a:ln xmlns:a="http://schemas.openxmlformats.org/drawingml/2006/main" w="9525">
              <a:solidFill>
                <a:srgbClr val="D6DFDF"/>
              </a:solidFill>
              <a:prstDash val="solid"/>
            </a:ln>
          </c:spPr>
        </c:majorGridlines>
        <c:title>
          <c:tx>
            <c:rich>
              <a:bodyPr xmlns:a="http://schemas.openxmlformats.org/drawingml/2006/main"/>
              <a:lstStyle xmlns:a="http://schemas.openxmlformats.org/drawingml/2006/main"/>
              <a:p xmlns:a="http://schemas.openxmlformats.org/drawingml/2006/main">
                <a:r>
                  <a:t>Mean test worst shed (%)</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544"/>
                </a:solidFill>
              </a:defRPr>
            </a:pPr>
          </a:p>
        </c:txPr>
        <c:crossAx val="48650112"/>
        <c:crossBetween val="between"/>
      </c:valAx>
      <c:spPr>
        <a:solidFill xmlns:a="http://schemas.openxmlformats.org/drawingml/2006/main">
          <a:srgbClr val="F5F3EE"/>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544"/>
              </a:solidFill>
            </a:defRPr>
          </a:pPr>
        </a:p>
      </c:txPr>
    </c:legend>
    <c:plotVisOnly val="1"/>
  </c:chart>
  <c:spPr>
    <a:solidFill xmlns:a="http://schemas.openxmlformats.org/drawingml/2006/main">
      <a:srgbClr val="F5F3EE"/>
    </a:solidFill>
  </c:spPr>
</c:chartSpace>
</file>

<file path=ppt/slides/charts/chart3.xml><?xml version="1.0" encoding="utf-8"?>
<c:chartSpace xmlns:c="http://schemas.openxmlformats.org/drawingml/2006/chart">
  <c:lang val="en-US"/>
  <c:chart>
    <c:title>
      <c:txPr>
        <a:bodyPr xmlns:a="http://schemas.openxmlformats.org/drawingml/2006/main" anchorCtr="1"/>
        <a:lstStyle xmlns:a="http://schemas.openxmlformats.org/drawingml/2006/main"/>
        <a:p xmlns:a="http://schemas.openxmlformats.org/drawingml/2006/main">
          <a:pPr>
            <a:defRPr sz="1950">
              <a:solidFill>
                <a:srgbClr val="183544"/>
              </a:solidFill>
            </a:defRPr>
          </a:pPr>
        </a:p>
      </c:txPr>
    </c:title>
    <c:plotArea>
      <c:lineChart>
        <c:grouping val="standard"/>
        <c:varyColors val="0"/>
        <c:ser>
          <c:idx val="0"/>
          <c:order val="0"/>
          <c:tx>
            <c:v>Scenario design</c:v>
          </c:tx>
          <c:spPr>
            <a:solidFill xmlns:a="http://schemas.openxmlformats.org/drawingml/2006/main">
              <a:srgbClr val="087F8C"/>
            </a:solidFill>
            <a:ln xmlns:a="http://schemas.openxmlformats.org/drawingml/2006/main" w="28575">
              <a:solidFill>
                <a:srgbClr val="087F8C"/>
              </a:solidFill>
              <a:prstDash val="solid"/>
            </a:ln>
          </c:spPr>
          <c:marker>
            <c:symbol val="none"/>
          </c:marker>
          <c:cat>
            <c:numLit>
              <c:formatCode>General</c:formatCode>
              <c:ptCount val="4"/>
              <c:pt idx="0">
                <c:v>0</c:v>
              </c:pt>
              <c:pt idx="1">
                <c:v>1</c:v>
              </c:pt>
              <c:pt idx="2">
                <c:v>2</c:v>
              </c:pt>
              <c:pt idx="3">
                <c:v>3</c:v>
              </c:pt>
            </c:numLit>
          </c:cat>
          <c:val>
            <c:numLit>
              <c:formatCode>0.0</c:formatCode>
              <c:ptCount val="4"/>
              <c:pt idx="0">
                <c:v>21.51687272664234</c:v>
              </c:pt>
              <c:pt idx="1">
                <c:v>20.75488669019886</c:v>
              </c:pt>
              <c:pt idx="2">
                <c:v>20.47205968146063</c:v>
              </c:pt>
              <c:pt idx="3">
                <c:v>17.689067196488338</c:v>
              </c:pt>
            </c:numLit>
          </c:val>
          <c:smooth val="0"/>
        </c:ser>
        <c:ser>
          <c:idx val="1"/>
          <c:order val="1"/>
          <c:tx>
            <c:v>Initial flow</c:v>
          </c:tx>
          <c:spPr>
            <a:solidFill xmlns:a="http://schemas.openxmlformats.org/drawingml/2006/main">
              <a:srgbClr val="CF5C36"/>
            </a:solidFill>
            <a:ln xmlns:a="http://schemas.openxmlformats.org/drawingml/2006/main" w="28575">
              <a:solidFill>
                <a:srgbClr val="CF5C36"/>
              </a:solidFill>
              <a:prstDash val="solid"/>
            </a:ln>
          </c:spPr>
          <c:marker>
            <c:symbol val="none"/>
          </c:marker>
          <c:cat>
            <c:numLit>
              <c:formatCode>General</c:formatCode>
              <c:ptCount val="4"/>
              <c:pt idx="0">
                <c:v>0</c:v>
              </c:pt>
              <c:pt idx="1">
                <c:v>1</c:v>
              </c:pt>
              <c:pt idx="2">
                <c:v>2</c:v>
              </c:pt>
              <c:pt idx="3">
                <c:v>3</c:v>
              </c:pt>
            </c:numLit>
          </c:cat>
          <c:val>
            <c:numLit>
              <c:formatCode>0.0</c:formatCode>
              <c:ptCount val="4"/>
              <c:pt idx="0">
                <c:v>21.51687272664234</c:v>
              </c:pt>
              <c:pt idx="1">
                <c:v>20.75488669019886</c:v>
              </c:pt>
              <c:pt idx="2">
                <c:v>20.347379265383818</c:v>
              </c:pt>
              <c:pt idx="3">
                <c:v>20.347379265383818</c:v>
              </c:pt>
            </c:numLit>
          </c:val>
          <c:smooth val="0"/>
        </c:ser>
        <c:ser>
          <c:idx val="2"/>
          <c:order val="2"/>
          <c:tx>
            <c:v>Single scenario</c:v>
          </c:tx>
          <c:spPr>
            <a:solidFill xmlns:a="http://schemas.openxmlformats.org/drawingml/2006/main">
              <a:srgbClr val="6554A4"/>
            </a:solidFill>
            <a:ln xmlns:a="http://schemas.openxmlformats.org/drawingml/2006/main" w="28575">
              <a:solidFill>
                <a:srgbClr val="6554A4"/>
              </a:solidFill>
              <a:prstDash val="solid"/>
            </a:ln>
          </c:spPr>
          <c:marker>
            <c:symbol val="none"/>
          </c:marker>
          <c:cat>
            <c:numLit>
              <c:formatCode>General</c:formatCode>
              <c:ptCount val="4"/>
              <c:pt idx="0">
                <c:v>0</c:v>
              </c:pt>
              <c:pt idx="1">
                <c:v>1</c:v>
              </c:pt>
              <c:pt idx="2">
                <c:v>2</c:v>
              </c:pt>
              <c:pt idx="3">
                <c:v>3</c:v>
              </c:pt>
            </c:numLit>
          </c:cat>
          <c:val>
            <c:numLit>
              <c:formatCode>0.0</c:formatCode>
              <c:ptCount val="4"/>
              <c:pt idx="0">
                <c:v>21.51687272664234</c:v>
              </c:pt>
              <c:pt idx="1">
                <c:v>20.75488669019886</c:v>
              </c:pt>
              <c:pt idx="2">
                <c:v>20.47205968146063</c:v>
              </c:pt>
              <c:pt idx="3">
                <c:v>17.689067196488338</c:v>
              </c:pt>
            </c:numLit>
          </c:val>
          <c:smooth val="0"/>
        </c:ser>
        <c:ser>
          <c:idx val="3"/>
          <c:order val="3"/>
          <c:tx>
            <c:v>Simultaneous design</c:v>
          </c:tx>
          <c:spPr>
            <a:solidFill xmlns:a="http://schemas.openxmlformats.org/drawingml/2006/main">
              <a:srgbClr val="8A8D91"/>
            </a:solidFill>
            <a:ln xmlns:a="http://schemas.openxmlformats.org/drawingml/2006/main" w="28575">
              <a:solidFill>
                <a:srgbClr val="8A8D91"/>
              </a:solidFill>
              <a:prstDash val="solid"/>
            </a:ln>
          </c:spPr>
          <c:marker>
            <c:symbol val="none"/>
          </c:marker>
          <c:cat>
            <c:numLit>
              <c:formatCode>General</c:formatCode>
              <c:ptCount val="4"/>
              <c:pt idx="0">
                <c:v>0</c:v>
              </c:pt>
              <c:pt idx="1">
                <c:v>1</c:v>
              </c:pt>
              <c:pt idx="2">
                <c:v>2</c:v>
              </c:pt>
              <c:pt idx="3">
                <c:v>3</c:v>
              </c:pt>
            </c:numLit>
          </c:cat>
          <c:val>
            <c:numLit>
              <c:formatCode>0.0</c:formatCode>
              <c:ptCount val="4"/>
              <c:pt idx="0">
                <c:v>21.51687272664234</c:v>
              </c:pt>
              <c:pt idx="1">
                <c:v>20.75488669019886</c:v>
              </c:pt>
              <c:pt idx="2">
                <c:v>20.75488669019886</c:v>
              </c:pt>
              <c:pt idx="3">
                <c:v>20.75488669019886</c:v>
              </c:pt>
            </c:numLit>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Protected lines q</a:t>
                </a:r>
              </a:p>
            </c:rich>
          </c:tx>
          <c:overlay val="0"/>
        </c:title>
        <c:numFmt formatCode="General"/>
        <c:majorTickMark val="none"/>
        <c:minorTickMark val="none"/>
        <c:spPr>
          <a:ln xmlns:a="http://schemas.openxmlformats.org/drawingml/2006/main" w="9525">
            <a:solidFill>
              <a:srgbClr val="BAC8CB"/>
            </a:solidFill>
          </a:ln>
        </c:spPr>
        <c:txPr>
          <a:bodyPr xmlns:a="http://schemas.openxmlformats.org/drawingml/2006/main" anchorCtr="1"/>
          <a:lstStyle xmlns:a="http://schemas.openxmlformats.org/drawingml/2006/main"/>
          <a:p xmlns:a="http://schemas.openxmlformats.org/drawingml/2006/main">
            <a:pPr>
              <a:defRPr sz="1650">
                <a:solidFill>
                  <a:srgbClr val="183544"/>
                </a:solidFill>
              </a:defRPr>
            </a:pPr>
          </a:p>
        </c:txPr>
        <c:crossAx val="48672768"/>
      </c:catAx>
      <c:valAx>
        <c:axId val="48672768"/>
        <c:scaling>
          <c:orientation val="minMax"/>
        </c:scaling>
        <c:delete val="0"/>
        <c:axPos val="l"/>
        <c:majorGridlines>
          <c:spPr>
            <a:ln xmlns:a="http://schemas.openxmlformats.org/drawingml/2006/main" w="9525">
              <a:solidFill>
                <a:srgbClr val="D6DFDF"/>
              </a:solidFill>
              <a:prstDash val="solid"/>
            </a:ln>
          </c:spPr>
        </c:majorGridlines>
        <c:title>
          <c:tx>
            <c:rich>
              <a:bodyPr xmlns:a="http://schemas.openxmlformats.org/drawingml/2006/main"/>
              <a:lstStyle xmlns:a="http://schemas.openxmlformats.org/drawingml/2006/main"/>
              <a:p xmlns:a="http://schemas.openxmlformats.org/drawingml/2006/main">
                <a:r>
                  <a:t>Mean test worst shed (%)</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544"/>
                </a:solidFill>
              </a:defRPr>
            </a:pPr>
          </a:p>
        </c:txPr>
        <c:crossAx val="48650112"/>
        <c:crossBetween val="between"/>
      </c:valAx>
      <c:spPr>
        <a:solidFill xmlns:a="http://schemas.openxmlformats.org/drawingml/2006/main">
          <a:srgbClr val="F5F3EE"/>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544"/>
              </a:solidFill>
            </a:defRPr>
          </a:pPr>
        </a:p>
      </c:txPr>
    </c:legend>
    <c:plotVisOnly val="1"/>
  </c:chart>
  <c:spPr>
    <a:solidFill xmlns:a="http://schemas.openxmlformats.org/drawingml/2006/main">
      <a:srgbClr val="F5F3EE"/>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950">
                <a:solidFill>
                  <a:srgbClr val="183544"/>
                </a:solidFill>
              </a:rPr>
              <a:t>Final shed (%)</a:t>
            </a:r>
          </a:p>
        </c:rich>
      </c:tx>
      <c:overlay val="0"/>
      <c:txPr>
        <a:bodyPr xmlns:a="http://schemas.openxmlformats.org/drawingml/2006/main" anchorCtr="1"/>
        <a:lstStyle xmlns:a="http://schemas.openxmlformats.org/drawingml/2006/main"/>
        <a:p xmlns:a="http://schemas.openxmlformats.org/drawingml/2006/main">
          <a:pPr>
            <a:defRPr sz="1950">
              <a:solidFill>
                <a:srgbClr val="183544"/>
              </a:solidFill>
            </a:defRPr>
          </a:pPr>
        </a:p>
      </c:txPr>
    </c:title>
    <c:plotArea>
      <c:barChart>
        <c:barDir val="col"/>
        <c:grouping val="clustered"/>
        <c:varyColors val="0"/>
        <c:ser>
          <c:idx val="0"/>
          <c:order val="0"/>
          <c:tx>
            <c:v>Sequential</c:v>
          </c:tx>
          <c:spPr>
            <a:solidFill xmlns:a="http://schemas.openxmlformats.org/drawingml/2006/main">
              <a:srgbClr val="087F8C"/>
            </a:solidFill>
            <a:ln xmlns:a="http://schemas.openxmlformats.org/drawingml/2006/main" w="28575">
              <a:solidFill>
                <a:srgbClr val="087F8C"/>
              </a:solidFill>
              <a:prstDash val="solid"/>
            </a:ln>
          </c:spPr>
          <c:invertIfNegative val="0"/>
          <c:cat>
            <c:strLit>
              <c:ptCount val="3"/>
              <c:pt idx="0">
                <c:v>Even</c:v>
              </c:pt>
              <c:pt idx="1">
                <c:v>Early</c:v>
              </c:pt>
              <c:pt idx="2">
                <c:v>Late</c:v>
              </c:pt>
            </c:strLit>
          </c:cat>
          <c:val>
            <c:numLit>
              <c:formatCode>0.0</c:formatCode>
              <c:ptCount val="3"/>
              <c:pt idx="0">
                <c:v>26.283215333444797</c:v>
              </c:pt>
              <c:pt idx="1">
                <c:v>30.28954385170579</c:v>
              </c:pt>
              <c:pt idx="2">
                <c:v>35.397648773104876</c:v>
              </c:pt>
            </c:numLit>
          </c:val>
        </c:ser>
        <c:ser>
          <c:idx val="1"/>
          <c:order val="1"/>
          <c:tx>
            <c:v>Simultaneous</c:v>
          </c:tx>
          <c:spPr>
            <a:solidFill xmlns:a="http://schemas.openxmlformats.org/drawingml/2006/main">
              <a:srgbClr val="CF5C36"/>
            </a:solidFill>
            <a:ln xmlns:a="http://schemas.openxmlformats.org/drawingml/2006/main" w="28575">
              <a:solidFill>
                <a:srgbClr val="CF5C36"/>
              </a:solidFill>
              <a:prstDash val="solid"/>
            </a:ln>
          </c:spPr>
          <c:invertIfNegative val="0"/>
          <c:cat>
            <c:strLit>
              <c:ptCount val="3"/>
              <c:pt idx="0">
                <c:v>Even</c:v>
              </c:pt>
              <c:pt idx="1">
                <c:v>Early</c:v>
              </c:pt>
              <c:pt idx="2">
                <c:v>Late</c:v>
              </c:pt>
            </c:strLit>
          </c:cat>
          <c:val>
            <c:numLit>
              <c:formatCode>0.0</c:formatCode>
              <c:ptCount val="3"/>
              <c:pt idx="0">
                <c:v>26.199492372338266</c:v>
              </c:pt>
              <c:pt idx="1">
                <c:v>30.35170587333656</c:v>
              </c:pt>
              <c:pt idx="2">
                <c:v>17.164142404585288</c:v>
              </c:pt>
            </c:numLit>
          </c:val>
        </c:ser>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AC8CB"/>
            </a:solidFill>
          </a:ln>
        </c:spPr>
        <c:txPr>
          <a:bodyPr xmlns:a="http://schemas.openxmlformats.org/drawingml/2006/main" anchorCtr="1"/>
          <a:lstStyle xmlns:a="http://schemas.openxmlformats.org/drawingml/2006/main"/>
          <a:p xmlns:a="http://schemas.openxmlformats.org/drawingml/2006/main">
            <a:pPr>
              <a:defRPr sz="1650">
                <a:solidFill>
                  <a:srgbClr val="183544"/>
                </a:solidFill>
              </a:defRPr>
            </a:pPr>
          </a:p>
        </c:txPr>
        <c:crossAx val="48672768"/>
      </c:catAx>
      <c:valAx>
        <c:axId val="48672768"/>
        <c:scaling>
          <c:orientation val="minMax"/>
          <c:min val="0"/>
        </c:scaling>
        <c:delete val="0"/>
        <c:axPos val="l"/>
        <c:majorGridlines>
          <c:spPr>
            <a:ln xmlns:a="http://schemas.openxmlformats.org/drawingml/2006/main" w="9525">
              <a:solidFill>
                <a:srgbClr val="D6DF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544"/>
                </a:solidFill>
              </a:defRPr>
            </a:pPr>
          </a:p>
        </c:txPr>
        <c:crossAx val="48650112"/>
        <c:crossBetween val="between"/>
      </c:valAx>
      <c:spPr>
        <a:solidFill xmlns:a="http://schemas.openxmlformats.org/drawingml/2006/main">
          <a:srgbClr val="F5F3EE"/>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544"/>
              </a:solidFill>
            </a:defRPr>
          </a:pPr>
        </a:p>
      </c:txPr>
    </c:legend>
    <c:plotVisOnly val="1"/>
  </c:chart>
  <c:spPr>
    <a:solidFill xmlns:a="http://schemas.openxmlformats.org/drawingml/2006/main">
      <a:srgbClr val="F5F3EE"/>
    </a:solidFill>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950">
                <a:solidFill>
                  <a:srgbClr val="183544"/>
                </a:solidFill>
              </a:rPr>
              <a:t>Snapshot energy proxy (%)</a:t>
            </a:r>
          </a:p>
        </c:rich>
      </c:tx>
      <c:overlay val="0"/>
      <c:txPr>
        <a:bodyPr xmlns:a="http://schemas.openxmlformats.org/drawingml/2006/main" anchorCtr="1"/>
        <a:lstStyle xmlns:a="http://schemas.openxmlformats.org/drawingml/2006/main"/>
        <a:p xmlns:a="http://schemas.openxmlformats.org/drawingml/2006/main">
          <a:pPr>
            <a:defRPr sz="1950">
              <a:solidFill>
                <a:srgbClr val="183544"/>
              </a:solidFill>
            </a:defRPr>
          </a:pPr>
        </a:p>
      </c:txPr>
    </c:title>
    <c:plotArea>
      <c:barChart>
        <c:barDir val="col"/>
        <c:grouping val="clustered"/>
        <c:varyColors val="0"/>
        <c:ser>
          <c:idx val="0"/>
          <c:order val="0"/>
          <c:tx>
            <c:v>Sequential</c:v>
          </c:tx>
          <c:spPr>
            <a:solidFill xmlns:a="http://schemas.openxmlformats.org/drawingml/2006/main">
              <a:srgbClr val="087F8C"/>
            </a:solidFill>
            <a:ln xmlns:a="http://schemas.openxmlformats.org/drawingml/2006/main" w="28575">
              <a:solidFill>
                <a:srgbClr val="087F8C"/>
              </a:solidFill>
              <a:prstDash val="solid"/>
            </a:ln>
          </c:spPr>
          <c:invertIfNegative val="0"/>
          <c:cat>
            <c:strLit>
              <c:ptCount val="3"/>
              <c:pt idx="0">
                <c:v>Even</c:v>
              </c:pt>
              <c:pt idx="1">
                <c:v>Early</c:v>
              </c:pt>
              <c:pt idx="2">
                <c:v>Late</c:v>
              </c:pt>
            </c:strLit>
          </c:cat>
          <c:val>
            <c:numLit>
              <c:formatCode>0.0</c:formatCode>
              <c:ptCount val="3"/>
              <c:pt idx="0">
                <c:v>16.03117277818221</c:v>
              </c:pt>
              <c:pt idx="1">
                <c:v>28.95615031939632</c:v>
              </c:pt>
              <c:pt idx="2">
                <c:v>7.13741094811741</c:v>
              </c:pt>
            </c:numLit>
          </c:val>
        </c:ser>
        <c:ser>
          <c:idx val="1"/>
          <c:order val="1"/>
          <c:tx>
            <c:v>Simultaneous</c:v>
          </c:tx>
          <c:spPr>
            <a:solidFill xmlns:a="http://schemas.openxmlformats.org/drawingml/2006/main">
              <a:srgbClr val="CF5C36"/>
            </a:solidFill>
            <a:ln xmlns:a="http://schemas.openxmlformats.org/drawingml/2006/main" w="28575">
              <a:solidFill>
                <a:srgbClr val="CF5C36"/>
              </a:solidFill>
              <a:prstDash val="solid"/>
            </a:ln>
          </c:spPr>
          <c:invertIfNegative val="0"/>
          <c:cat>
            <c:strLit>
              <c:ptCount val="3"/>
              <c:pt idx="0">
                <c:v>Even</c:v>
              </c:pt>
              <c:pt idx="1">
                <c:v>Early</c:v>
              </c:pt>
              <c:pt idx="2">
                <c:v>Late</c:v>
              </c:pt>
            </c:strLit>
          </c:cat>
          <c:val>
            <c:numLit>
              <c:formatCode>0.0</c:formatCode>
              <c:ptCount val="3"/>
              <c:pt idx="0">
                <c:v>26.198768187994343</c:v>
              </c:pt>
              <c:pt idx="1">
                <c:v>30.35170587333656</c:v>
              </c:pt>
              <c:pt idx="2">
                <c:v>17.16414240458528</c:v>
              </c:pt>
            </c:numLit>
          </c:val>
        </c:ser>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AC8CB"/>
            </a:solidFill>
          </a:ln>
        </c:spPr>
        <c:txPr>
          <a:bodyPr xmlns:a="http://schemas.openxmlformats.org/drawingml/2006/main" anchorCtr="1"/>
          <a:lstStyle xmlns:a="http://schemas.openxmlformats.org/drawingml/2006/main"/>
          <a:p xmlns:a="http://schemas.openxmlformats.org/drawingml/2006/main">
            <a:pPr>
              <a:defRPr sz="1650">
                <a:solidFill>
                  <a:srgbClr val="183544"/>
                </a:solidFill>
              </a:defRPr>
            </a:pPr>
          </a:p>
        </c:txPr>
        <c:crossAx val="48672768"/>
      </c:catAx>
      <c:valAx>
        <c:axId val="48672768"/>
        <c:scaling>
          <c:orientation val="minMax"/>
          <c:min val="0"/>
        </c:scaling>
        <c:delete val="0"/>
        <c:axPos val="l"/>
        <c:majorGridlines>
          <c:spPr>
            <a:ln xmlns:a="http://schemas.openxmlformats.org/drawingml/2006/main" w="9525">
              <a:solidFill>
                <a:srgbClr val="D6DF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544"/>
                </a:solidFill>
              </a:defRPr>
            </a:pPr>
          </a:p>
        </c:txPr>
        <c:crossAx val="48650112"/>
        <c:crossBetween val="between"/>
      </c:valAx>
      <c:spPr>
        <a:solidFill xmlns:a="http://schemas.openxmlformats.org/drawingml/2006/main">
          <a:srgbClr val="F5F3EE"/>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544"/>
              </a:solidFill>
            </a:defRPr>
          </a:pPr>
        </a:p>
      </c:txPr>
    </c:legend>
    <c:plotVisOnly val="1"/>
  </c:chart>
  <c:spPr>
    <a:solidFill xmlns:a="http://schemas.openxmlformats.org/drawingml/2006/main">
      <a:srgbClr val="F5F3EE"/>
    </a:solidFill>
  </c:spPr>
</c:chartSpace>
</file>

<file path=ppt/slides/charts/chart6.xml><?xml version="1.0" encoding="utf-8"?>
<c:chartSpace xmlns:c="http://schemas.openxmlformats.org/drawingml/2006/chart">
  <c:lang val="en-US"/>
  <c:chart>
    <c:title>
      <c:txPr>
        <a:bodyPr xmlns:a="http://schemas.openxmlformats.org/drawingml/2006/main" anchorCtr="1"/>
        <a:lstStyle xmlns:a="http://schemas.openxmlformats.org/drawingml/2006/main"/>
        <a:p xmlns:a="http://schemas.openxmlformats.org/drawingml/2006/main">
          <a:pPr>
            <a:defRPr sz="1950">
              <a:solidFill>
                <a:srgbClr val="183544"/>
              </a:solidFill>
            </a:defRPr>
          </a:pPr>
        </a:p>
      </c:txPr>
    </c:title>
    <c:plotArea>
      <c:barChart>
        <c:barDir val="col"/>
        <c:grouping val="clustered"/>
        <c:varyColors val="0"/>
        <c:ser>
          <c:idx val="0"/>
          <c:order val="0"/>
          <c:tx>
            <c:v>Total-tight</c:v>
          </c:tx>
          <c:spPr>
            <a:solidFill xmlns:a="http://schemas.openxmlformats.org/drawingml/2006/main">
              <a:srgbClr val="8A8D91"/>
            </a:solidFill>
            <a:ln xmlns:a="http://schemas.openxmlformats.org/drawingml/2006/main" w="28575">
              <a:solidFill>
                <a:srgbClr val="8A8D91"/>
              </a:solidFill>
              <a:prstDash val="solid"/>
            </a:ln>
          </c:spPr>
          <c:invertIfNegative val="0"/>
          <c:cat>
            <c:strLit>
              <c:ptCount val="3"/>
              <c:pt idx="0">
                <c:v>Case 14</c:v>
              </c:pt>
              <c:pt idx="1">
                <c:v>Case 39</c:v>
              </c:pt>
              <c:pt idx="2">
                <c:v>Case 118</c:v>
              </c:pt>
            </c:strLit>
          </c:cat>
          <c:val>
            <c:numLit>
              <c:formatCode>0.0</c:formatCode>
              <c:ptCount val="3"/>
              <c:pt idx="0">
                <c:v>0</c:v>
              </c:pt>
              <c:pt idx="1">
                <c:v>66.7574870820808</c:v>
              </c:pt>
              <c:pt idx="2">
                <c:v>76.76452717269515</c:v>
              </c:pt>
            </c:numLit>
          </c:val>
        </c:ser>
        <c:ser>
          <c:idx val="1"/>
          <c:order val="1"/>
          <c:tx>
            <c:v>Weight 2</c:v>
          </c:tx>
          <c:spPr>
            <a:solidFill xmlns:a="http://schemas.openxmlformats.org/drawingml/2006/main">
              <a:srgbClr val="087F8C"/>
            </a:solidFill>
            <a:ln xmlns:a="http://schemas.openxmlformats.org/drawingml/2006/main" w="28575">
              <a:solidFill>
                <a:srgbClr val="087F8C"/>
              </a:solidFill>
              <a:prstDash val="solid"/>
            </a:ln>
          </c:spPr>
          <c:invertIfNegative val="0"/>
          <c:cat>
            <c:strLit>
              <c:ptCount val="3"/>
              <c:pt idx="0">
                <c:v>Case 14</c:v>
              </c:pt>
              <c:pt idx="1">
                <c:v>Case 39</c:v>
              </c:pt>
              <c:pt idx="2">
                <c:v>Case 118</c:v>
              </c:pt>
            </c:strLit>
          </c:cat>
          <c:val>
            <c:numLit>
              <c:formatCode>0.0</c:formatCode>
              <c:ptCount val="3"/>
              <c:pt idx="0">
                <c:v>10.707308579910201</c:v>
              </c:pt>
              <c:pt idx="1">
                <c:v>100</c:v>
              </c:pt>
              <c:pt idx="2">
                <c:v>100</c:v>
              </c:pt>
            </c:numLit>
          </c:val>
        </c:ser>
        <c:ser>
          <c:idx val="2"/>
          <c:order val="2"/>
          <c:tx>
            <c:v>Weight 10</c:v>
          </c:tx>
          <c:spPr>
            <a:solidFill xmlns:a="http://schemas.openxmlformats.org/drawingml/2006/main">
              <a:srgbClr val="6554A4"/>
            </a:solidFill>
            <a:ln xmlns:a="http://schemas.openxmlformats.org/drawingml/2006/main" w="28575">
              <a:solidFill>
                <a:srgbClr val="6554A4"/>
              </a:solidFill>
              <a:prstDash val="solid"/>
            </a:ln>
          </c:spPr>
          <c:invertIfNegative val="0"/>
          <c:cat>
            <c:strLit>
              <c:ptCount val="3"/>
              <c:pt idx="0">
                <c:v>Case 14</c:v>
              </c:pt>
              <c:pt idx="1">
                <c:v>Case 39</c:v>
              </c:pt>
              <c:pt idx="2">
                <c:v>Case 118</c:v>
              </c:pt>
            </c:strLit>
          </c:cat>
          <c:val>
            <c:numLit>
              <c:formatCode>0.0</c:formatCode>
              <c:ptCount val="3"/>
              <c:pt idx="0">
                <c:v>10.70730857991018</c:v>
              </c:pt>
              <c:pt idx="1">
                <c:v>100</c:v>
              </c:pt>
              <c:pt idx="2">
                <c:v>100</c:v>
              </c:pt>
            </c:numLit>
          </c:val>
        </c:ser>
        <c:ser>
          <c:idx val="3"/>
          <c:order val="3"/>
          <c:tx>
            <c:v>Critical-first</c:v>
          </c:tx>
          <c:spPr>
            <a:solidFill xmlns:a="http://schemas.openxmlformats.org/drawingml/2006/main">
              <a:srgbClr val="CF5C36"/>
            </a:solidFill>
            <a:ln xmlns:a="http://schemas.openxmlformats.org/drawingml/2006/main" w="28575">
              <a:solidFill>
                <a:srgbClr val="CF5C36"/>
              </a:solidFill>
              <a:prstDash val="solid"/>
            </a:ln>
          </c:spPr>
          <c:invertIfNegative val="0"/>
          <c:cat>
            <c:strLit>
              <c:ptCount val="3"/>
              <c:pt idx="0">
                <c:v>Case 14</c:v>
              </c:pt>
              <c:pt idx="1">
                <c:v>Case 39</c:v>
              </c:pt>
              <c:pt idx="2">
                <c:v>Case 118</c:v>
              </c:pt>
            </c:strLit>
          </c:cat>
          <c:val>
            <c:numLit>
              <c:formatCode>0.0</c:formatCode>
              <c:ptCount val="3"/>
              <c:pt idx="0">
                <c:v>10.70730811437499</c:v>
              </c:pt>
              <c:pt idx="1">
                <c:v>100</c:v>
              </c:pt>
              <c:pt idx="2">
                <c:v>100</c:v>
              </c:pt>
            </c:numLit>
          </c:val>
        </c:ser>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AC8CB"/>
            </a:solidFill>
          </a:ln>
        </c:spPr>
        <c:txPr>
          <a:bodyPr xmlns:a="http://schemas.openxmlformats.org/drawingml/2006/main" anchorCtr="1"/>
          <a:lstStyle xmlns:a="http://schemas.openxmlformats.org/drawingml/2006/main"/>
          <a:p xmlns:a="http://schemas.openxmlformats.org/drawingml/2006/main">
            <a:pPr>
              <a:defRPr sz="1650">
                <a:solidFill>
                  <a:srgbClr val="183544"/>
                </a:solidFill>
              </a:defRPr>
            </a:pPr>
          </a:p>
        </c:txPr>
        <c:crossAx val="48672768"/>
      </c:catAx>
      <c:valAx>
        <c:axId val="48672768"/>
        <c:scaling>
          <c:orientation val="minMax"/>
          <c:min val="0"/>
        </c:scaling>
        <c:delete val="0"/>
        <c:axPos val="l"/>
        <c:majorGridlines>
          <c:spPr>
            <a:ln xmlns:a="http://schemas.openxmlformats.org/drawingml/2006/main" w="9525">
              <a:solidFill>
                <a:srgbClr val="D6DFDF"/>
              </a:solidFill>
              <a:prstDash val="solid"/>
            </a:ln>
          </c:spPr>
        </c:majorGridlines>
        <c:title>
          <c:tx>
            <c:rich>
              <a:bodyPr xmlns:a="http://schemas.openxmlformats.org/drawingml/2006/main"/>
              <a:lstStyle xmlns:a="http://schemas.openxmlformats.org/drawingml/2006/main"/>
              <a:p xmlns:a="http://schemas.openxmlformats.org/drawingml/2006/main">
                <a:r>
                  <a:t>Mean worst critical retained (%)</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544"/>
                </a:solidFill>
              </a:defRPr>
            </a:pPr>
          </a:p>
        </c:txPr>
        <c:crossAx val="48650112"/>
        <c:crossBetween val="between"/>
      </c:valAx>
      <c:spPr>
        <a:solidFill xmlns:a="http://schemas.openxmlformats.org/drawingml/2006/main">
          <a:srgbClr val="F5F3EE"/>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544"/>
              </a:solidFill>
            </a:defRPr>
          </a:pPr>
        </a:p>
      </c:txPr>
    </c:legend>
    <c:plotVisOnly val="1"/>
  </c:chart>
  <c:spPr>
    <a:solidFill xmlns:a="http://schemas.openxmlformats.org/drawingml/2006/main">
      <a:srgbClr val="F5F3EE"/>
    </a:solidFill>
  </c:spPr>
</c:chartSpace>
</file>

<file path=ppt/slides/slide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5852441-37F0-4F80-8EEF-98BBF6E5FE6B}"/>
              </a:ext>
            </a:extLst>
          </p:cNvPr>
          <p:cNvSpPr>
            <a:spLocks xmlns:a="http://schemas.openxmlformats.org/drawingml/2006/main" noGrp="1"/>
          </p:cNvSpPr>
          <p:nvPr/>
        </p:nvSpPr>
        <p:spPr>
          <a:xfrm xmlns:a="http://schemas.openxmlformats.org/drawingml/2006/main">
            <a:off x="685800" y="185737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83544"/>
                </a:solidFill>
              </a:defRPr>
            </a:defPPr>
            <a:lvl1pPr>
              <a:defRPr sz="3900" b="1">
                <a:solidFill>
                  <a:srgbClr val="183544"/>
                </a:solidFill>
              </a:defRPr>
            </a:lvl1pPr>
            <a:lvl2pPr>
              <a:defRPr sz="3900" b="1">
                <a:solidFill>
                  <a:srgbClr val="183544"/>
                </a:solidFill>
              </a:defRPr>
            </a:lvl2pPr>
            <a:lvl3pPr>
              <a:defRPr sz="3900" b="1">
                <a:solidFill>
                  <a:srgbClr val="183544"/>
                </a:solidFill>
              </a:defRPr>
            </a:lvl3pPr>
            <a:lvl4pPr>
              <a:defRPr sz="3900" b="1">
                <a:solidFill>
                  <a:srgbClr val="183544"/>
                </a:solidFill>
              </a:defRPr>
            </a:lvl4pPr>
            <a:lvl5pPr>
              <a:defRPr sz="3900" b="1">
                <a:solidFill>
                  <a:srgbClr val="183544"/>
                </a:solidFill>
              </a:defRPr>
            </a:lvl5pPr>
            <a:lvl6pPr>
              <a:defRPr sz="3900" b="1">
                <a:solidFill>
                  <a:srgbClr val="183544"/>
                </a:solidFill>
              </a:defRPr>
            </a:lvl6pPr>
            <a:lvl7pPr>
              <a:defRPr sz="3900" b="1">
                <a:solidFill>
                  <a:srgbClr val="183544"/>
                </a:solidFill>
              </a:defRPr>
            </a:lvl7pPr>
            <a:lvl8pPr>
              <a:defRPr sz="3900" b="1">
                <a:solidFill>
                  <a:srgbClr val="183544"/>
                </a:solidFill>
              </a:defRPr>
            </a:lvl8pPr>
            <a:lvl9pPr>
              <a:defRPr sz="3900" b="1">
                <a:solidFill>
                  <a:srgbClr val="183544"/>
                </a:solidFill>
              </a:defRPr>
            </a:lvl9pPr>
          </a:lstStyle>
          <a:p xmlns:a="http://schemas.openxmlformats.org/drawingml/2006/main">
            <a:pPr>
              <a:defRPr sz="3900" b="1">
                <a:solidFill>
                  <a:srgbClr val="183544"/>
                </a:solidFill>
              </a:defRPr>
            </a:pPr>
            <a:r>
              <a:rPr sz="3900" b="1">
                <a:solidFill>
                  <a:srgbClr val="183544"/>
                </a:solidFill>
              </a:rPr>
              <a:t>SEQUIN</a:t>
            </a:r>
          </a:p>
          <a:p xmlns:a="http://schemas.openxmlformats.org/drawingml/2006/main">
            <a:pPr>
              <a:defRPr sz="3900" b="1">
                <a:solidFill>
                  <a:srgbClr val="183544"/>
                </a:solidFill>
              </a:defRPr>
            </a:pPr>
            <a:r>
              <a:rPr sz="3900" b="1">
                <a:solidFill>
                  <a:srgbClr val="183544"/>
                </a:solidFill>
              </a:rPr>
              <a:t>Three extensions on the group model</a:t>
            </a:r>
          </a:p>
        </p:txBody>
      </p:sp>
      <p:sp>
        <p:nvSpPr>
          <p:cNvPr id="3" name="">
            <a:extLst xmlns:a="http://schemas.openxmlformats.org/drawingml/2006/main">
              <a:ext uri="{FF2B5EF4-FFF2-40B4-BE49-F238E27FC236}">
                <a16:creationId xmlns:a16="http://schemas.microsoft.com/office/drawing/2014/main" id="{EE6E6D4C-6A38-40C9-BB67-F95765C9E751}"/>
              </a:ext>
            </a:extLst>
          </p:cNvPr>
          <p:cNvSpPr>
            <a:spLocks xmlns:a="http://schemas.openxmlformats.org/drawingml/2006/main" noGrp="1"/>
          </p:cNvSpPr>
          <p:nvPr/>
        </p:nvSpPr>
        <p:spPr>
          <a:xfrm xmlns:a="http://schemas.openxmlformats.org/drawingml/2006/main">
            <a:off x="723900" y="381000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a:solidFill>
                  <a:srgbClr val="455763"/>
                </a:solidFill>
              </a:defRPr>
            </a:defPPr>
            <a:lvl1pPr>
              <a:defRPr sz="1875">
                <a:solidFill>
                  <a:srgbClr val="455763"/>
                </a:solidFill>
              </a:defRPr>
            </a:lvl1pPr>
            <a:lvl2pPr>
              <a:defRPr sz="1875">
                <a:solidFill>
                  <a:srgbClr val="455763"/>
                </a:solidFill>
              </a:defRPr>
            </a:lvl2pPr>
            <a:lvl3pPr>
              <a:defRPr sz="1875">
                <a:solidFill>
                  <a:srgbClr val="455763"/>
                </a:solidFill>
              </a:defRPr>
            </a:lvl3pPr>
            <a:lvl4pPr>
              <a:defRPr sz="1875">
                <a:solidFill>
                  <a:srgbClr val="455763"/>
                </a:solidFill>
              </a:defRPr>
            </a:lvl4pPr>
            <a:lvl5pPr>
              <a:defRPr sz="1875">
                <a:solidFill>
                  <a:srgbClr val="455763"/>
                </a:solidFill>
              </a:defRPr>
            </a:lvl5pPr>
            <a:lvl6pPr>
              <a:defRPr sz="1875">
                <a:solidFill>
                  <a:srgbClr val="455763"/>
                </a:solidFill>
              </a:defRPr>
            </a:lvl6pPr>
            <a:lvl7pPr>
              <a:defRPr sz="1875">
                <a:solidFill>
                  <a:srgbClr val="455763"/>
                </a:solidFill>
              </a:defRPr>
            </a:lvl7pPr>
            <a:lvl8pPr>
              <a:defRPr sz="1875">
                <a:solidFill>
                  <a:srgbClr val="455763"/>
                </a:solidFill>
              </a:defRPr>
            </a:lvl8pPr>
            <a:lvl9pPr>
              <a:defRPr sz="1875">
                <a:solidFill>
                  <a:srgbClr val="455763"/>
                </a:solidFill>
              </a:defRPr>
            </a:lvl9pPr>
          </a:lstStyle>
          <a:p xmlns:a="http://schemas.openxmlformats.org/drawingml/2006/main">
            <a:pPr>
              <a:defRPr sz="1875">
                <a:solidFill>
                  <a:srgbClr val="455763"/>
                </a:solidFill>
              </a:defRPr>
            </a:pPr>
            <a:r>
              <a:rPr sz="1875">
                <a:solidFill>
                  <a:srgbClr val="455763"/>
                </a:solidFill>
              </a:rPr>
              <a:t>CS637 project</a:t>
            </a:r>
          </a:p>
          <a:p xmlns:a="http://schemas.openxmlformats.org/drawingml/2006/main">
            <a:pPr>
              <a:defRPr sz="1875">
                <a:solidFill>
                  <a:srgbClr val="455763"/>
                </a:solidFill>
              </a:defRPr>
            </a:pPr>
            <a:r>
              <a:rPr sz="1875">
                <a:solidFill>
                  <a:srgbClr val="455763"/>
                </a:solidFill>
              </a:rPr>
              <a:t>Model comparison, protection, response timing and critical service</a:t>
            </a:r>
          </a:p>
        </p:txBody>
      </p:sp>
    </p:spTree>
    <p:extLst>
      <p:ext uri="{BB962C8B-B14F-4D97-AF65-F5344CB8AC3E}">
        <p14:creationId xmlns:p14="http://schemas.microsoft.com/office/powerpoint/2010/main" val="926835659"/>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A8D5B1-818E-40DA-A164-79CDD305E930}"/>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The paper: why failure order matters</a:t>
            </a:r>
          </a:p>
        </p:txBody>
      </p:sp>
      <p:sp>
        <p:nvSpPr>
          <p:cNvPr id="3" name="">
            <a:extLst xmlns:a="http://schemas.openxmlformats.org/drawingml/2006/main">
              <a:ext uri="{FF2B5EF4-FFF2-40B4-BE49-F238E27FC236}">
                <a16:creationId xmlns:a16="http://schemas.microsoft.com/office/drawing/2014/main" id="{5E7CA162-C157-4EBC-BFA6-EE98389A7686}"/>
              </a:ext>
            </a:extLst>
          </p:cNvPr>
          <p:cNvSpPr>
            <a:spLocks xmlns:a="http://schemas.openxmlformats.org/drawingml/2006/main" noGrp="1"/>
          </p:cNvSpPr>
          <p:nvPr/>
        </p:nvSpPr>
        <p:spPr>
          <a:xfrm xmlns:a="http://schemas.openxmlformats.org/drawingml/2006/main">
            <a:off x="742950" y="188595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One line fails. The operator adjusts generation and may shed demand.</a:t>
            </a:r>
          </a:p>
        </p:txBody>
      </p:sp>
      <p:sp>
        <p:nvSpPr>
          <p:cNvPr id="4" name="">
            <a:extLst xmlns:a="http://schemas.openxmlformats.org/drawingml/2006/main">
              <a:ext uri="{FF2B5EF4-FFF2-40B4-BE49-F238E27FC236}">
                <a16:creationId xmlns:a16="http://schemas.microsoft.com/office/drawing/2014/main" id="{1F8A5F8E-2425-4853-9D95-9F2A345F3E1D}"/>
              </a:ext>
            </a:extLst>
          </p:cNvPr>
          <p:cNvSpPr>
            <a:spLocks xmlns:a="http://schemas.openxmlformats.org/drawingml/2006/main" noGrp="1"/>
          </p:cNvSpPr>
          <p:nvPr/>
        </p:nvSpPr>
        <p:spPr>
          <a:xfrm xmlns:a="http://schemas.openxmlformats.org/drawingml/2006/main">
            <a:off x="742950" y="31718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The next failure acts on that changed state.</a:t>
            </a:r>
          </a:p>
        </p:txBody>
      </p:sp>
      <p:sp>
        <p:nvSpPr>
          <p:cNvPr id="5" name="">
            <a:extLst xmlns:a="http://schemas.openxmlformats.org/drawingml/2006/main">
              <a:ext uri="{FF2B5EF4-FFF2-40B4-BE49-F238E27FC236}">
                <a16:creationId xmlns:a16="http://schemas.microsoft.com/office/drawing/2014/main" id="{10B30311-9CC1-49A9-9777-328B7ECC88A1}"/>
              </a:ext>
            </a:extLst>
          </p:cNvPr>
          <p:cNvSpPr>
            <a:spLocks xmlns:a="http://schemas.openxmlformats.org/drawingml/2006/main" noGrp="1"/>
          </p:cNvSpPr>
          <p:nvPr/>
        </p:nvSpPr>
        <p:spPr>
          <a:xfrm xmlns:a="http://schemas.openxmlformats.org/drawingml/2006/main">
            <a:off x="742950" y="44577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SEQUIN searches for damaging orders using network clues and constrained responses.</a:t>
            </a:r>
          </a:p>
        </p:txBody>
      </p:sp>
      <p:sp>
        <p:nvSpPr>
          <p:cNvPr id="6" name="">
            <a:extLst xmlns:a="http://schemas.openxmlformats.org/drawingml/2006/main">
              <a:ext uri="{FF2B5EF4-FFF2-40B4-BE49-F238E27FC236}">
                <a16:creationId xmlns:a16="http://schemas.microsoft.com/office/drawing/2014/main" id="{EF4FC315-93C4-41B0-B584-DE3FD741E7CC}"/>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2</a:t>
            </a:r>
          </a:p>
        </p:txBody>
      </p:sp>
    </p:spTree>
    <p:extLst>
      <p:ext uri="{BB962C8B-B14F-4D97-AF65-F5344CB8AC3E}">
        <p14:creationId xmlns:p14="http://schemas.microsoft.com/office/powerpoint/2010/main" val="739697347"/>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1712663-50C3-4EE5-8737-6DC5E69481DB}"/>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The defender and its carried state</a:t>
            </a:r>
          </a:p>
        </p:txBody>
      </p:sp>
      <p:graphicFrame>
        <p:nvGraphicFramePr>
          <p:cNvPr id="3" name="">
            <a:extLst xmlns:a="http://schemas.openxmlformats.org/drawingml/2006/main">
              <a:ext uri="{FF2B5EF4-FFF2-40B4-BE49-F238E27FC236}">
                <a16:creationId xmlns:a16="http://schemas.microsoft.com/office/drawing/2014/main" id="{5958C35C-C899-491B-9A7D-237F327E1984}"/>
              </a:ext>
            </a:extLst>
          </p:cNvPr>
          <p:cNvGraphicFramePr/>
          <p:nvPr/>
        </p:nvGraphicFramePr>
        <p:xfrm>
          <a:off xmlns:a="http://schemas.openxmlformats.org/drawingml/2006/main" x="685800" y="1762125"/>
          <a:ext xmlns:a="http://schemas.openxmlformats.org/drawingml/2006/main" cx="10820400" cy="3524250"/>
        </p:xfrm>
        <a:graphic xmlns:a="http://schemas.openxmlformats.org/drawingml/2006/main">
          <a:graphicData uri="http://schemas.openxmlformats.org/drawingml/2006/table">
            <a:tbl>
              <a:tblPr/>
              <a:tblGrid>
                <a:gridCol w="3143250"/>
                <a:gridCol w="7677150"/>
              </a:tblGrid>
              <a:tr h="704850">
                <a:tc>
                  <a:txBody>
                    <a:bodyPr lIns="114300" tIns="76200" rIns="114300" bIns="76200"/>
                    <a:lstStyle/>
                    <a:p>
                      <a:r>
                        <a:rPr sz="1650" b="1">
                          <a:solidFill>
                            <a:srgbClr val="183544"/>
                          </a:solidFill>
                        </a:rPr>
                        <a:t>Quantity</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Model rule</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704850">
                <a:tc>
                  <a:txBody>
                    <a:bodyPr lIns="114300" tIns="76200" rIns="114300" bIns="76200"/>
                    <a:lstStyle/>
                    <a:p>
                      <a:r>
                        <a:rPr sz="1650" b="0">
                          <a:solidFill>
                            <a:srgbClr val="183544"/>
                          </a:solidFill>
                        </a:rPr>
                        <a:t>Line flow</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DC relation, rating and angle-difference limits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Generation</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Capacity and previous output +/- alpha Pmax, or shutdown</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Served demand</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Cannot exceed service retained in the previous round</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Network</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Failed lines remain out; each island has a reference angle</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C281AC55-4FA6-4B47-8DC8-3DDD5A459AF4}"/>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3</a:t>
            </a:r>
          </a:p>
        </p:txBody>
      </p:sp>
    </p:spTree>
    <p:extLst>
      <p:ext uri="{BB962C8B-B14F-4D97-AF65-F5344CB8AC3E}">
        <p14:creationId xmlns:p14="http://schemas.microsoft.com/office/powerpoint/2010/main" val="2019308298"/>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F79A7A1-19E8-4981-BEE4-D64F1596298C}"/>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Group implementation: code reading order</a:t>
            </a:r>
          </a:p>
        </p:txBody>
      </p:sp>
      <p:graphicFrame>
        <p:nvGraphicFramePr>
          <p:cNvPr id="3" name="">
            <a:extLst xmlns:a="http://schemas.openxmlformats.org/drawingml/2006/main">
              <a:ext uri="{FF2B5EF4-FFF2-40B4-BE49-F238E27FC236}">
                <a16:creationId xmlns:a16="http://schemas.microsoft.com/office/drawing/2014/main" id="{B2A05378-BA5E-4AC6-A709-5A998D0C101A}"/>
              </a:ext>
            </a:extLst>
          </p:cNvPr>
          <p:cNvGraphicFramePr/>
          <p:nvPr/>
        </p:nvGraphicFramePr>
        <p:xfrm>
          <a:off xmlns:a="http://schemas.openxmlformats.org/drawingml/2006/main" x="685800" y="1762125"/>
          <a:ext xmlns:a="http://schemas.openxmlformats.org/drawingml/2006/main" cx="10820400" cy="4286250"/>
        </p:xfrm>
        <a:graphic xmlns:a="http://schemas.openxmlformats.org/drawingml/2006/main">
          <a:graphicData uri="http://schemas.openxmlformats.org/drawingml/2006/table">
            <a:tbl>
              <a:tblPr/>
              <a:tblGrid>
                <a:gridCol w="3143250"/>
                <a:gridCol w="7677150"/>
              </a:tblGrid>
              <a:tr h="612321">
                <a:tc>
                  <a:txBody>
                    <a:bodyPr lIns="114300" tIns="76200" rIns="114300" bIns="76200"/>
                    <a:lstStyle/>
                    <a:p>
                      <a:r>
                        <a:rPr sz="1650" b="1">
                          <a:solidFill>
                            <a:srgbClr val="183544"/>
                          </a:solidFill>
                        </a:rPr>
                        <a:t>File</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Role</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612321">
                <a:tc>
                  <a:txBody>
                    <a:bodyPr lIns="114300" tIns="76200" rIns="114300" bIns="76200"/>
                    <a:lstStyle/>
                    <a:p>
                      <a:r>
                        <a:rPr sz="1650" b="0">
                          <a:solidFill>
                            <a:srgbClr val="183544"/>
                          </a:solidFill>
                        </a:rPr>
                        <a:t>grid_model.py</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Parse cases, initial LP, response MILP</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612321">
                <a:tc>
                  <a:txBody>
                    <a:bodyPr lIns="114300" tIns="76200" rIns="114300" bIns="76200"/>
                    <a:lstStyle/>
                    <a:p>
                      <a:r>
                        <a:rPr sz="1650" b="0">
                          <a:solidFill>
                            <a:srgbClr val="183544"/>
                          </a:solidFill>
                        </a:rPr>
                        <a:t>search_methods.py</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Exact, greedy and top-flow guided attacks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612321">
                <a:tc>
                  <a:txBody>
                    <a:bodyPr lIns="114300" tIns="76200" rIns="114300" bIns="76200"/>
                    <a:lstStyle/>
                    <a:p>
                      <a:r>
                        <a:rPr sz="1650" b="0">
                          <a:solidFill>
                            <a:srgbClr val="183544"/>
                          </a:solidFill>
                        </a:rPr>
                        <a:t>network_metrics.py</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Flow margins and structural heuristics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612321">
                <a:tc>
                  <a:txBody>
                    <a:bodyPr lIns="114300" tIns="76200" rIns="114300" bIns="76200"/>
                    <a:lstStyle/>
                    <a:p>
                      <a:r>
                        <a:rPr sz="1650" b="0">
                          <a:solidFill>
                            <a:srgbClr val="183544"/>
                          </a:solidFill>
                        </a:rPr>
                        <a:t>extensions.py</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Protection, timing, priority and prefix cache</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612321">
                <a:tc>
                  <a:txBody>
                    <a:bodyPr lIns="114300" tIns="76200" rIns="114300" bIns="76200"/>
                    <a:lstStyle/>
                    <a:p>
                      <a:r>
                        <a:rPr sz="1650" b="0">
                          <a:solidFill>
                            <a:srgbClr val="183544"/>
                          </a:solidFill>
                        </a:rPr>
                        <a:t>run_extensions.py</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Fresh studies, summaries and trace examples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612321">
                <a:tc>
                  <a:txBody>
                    <a:bodyPr lIns="114300" tIns="76200" rIns="114300" bIns="76200"/>
                    <a:lstStyle/>
                    <a:p>
                      <a:r>
                        <a:rPr sz="1650" b="0">
                          <a:solidFill>
                            <a:srgbClr val="183544"/>
                          </a:solidFill>
                        </a:rPr>
                        <a:t>audit_extensions.py</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Independent replays and precision controls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0F4D215C-6FC3-4D65-BFC0-BFCE68EA7EF8}"/>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4</a:t>
            </a:r>
          </a:p>
        </p:txBody>
      </p:sp>
    </p:spTree>
    <p:extLst>
      <p:ext uri="{BB962C8B-B14F-4D97-AF65-F5344CB8AC3E}">
        <p14:creationId xmlns:p14="http://schemas.microsoft.com/office/powerpoint/2010/main" val="286418058"/>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811ADF4-FEC6-4A89-BDFF-60FABF6AEA6C}"/>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Why the two implementations differ</a:t>
            </a:r>
          </a:p>
        </p:txBody>
      </p:sp>
      <p:graphicFrame>
        <p:nvGraphicFramePr>
          <p:cNvPr id="3" name="">
            <a:extLst xmlns:a="http://schemas.openxmlformats.org/drawingml/2006/main">
              <a:ext uri="{FF2B5EF4-FFF2-40B4-BE49-F238E27FC236}">
                <a16:creationId xmlns:a16="http://schemas.microsoft.com/office/drawing/2014/main" id="{5A5311F6-2D61-4823-89F9-5E8878CFDC6A}"/>
              </a:ext>
            </a:extLst>
          </p:cNvPr>
          <p:cNvGraphicFramePr/>
          <p:nvPr/>
        </p:nvGraphicFramePr>
        <p:xfrm>
          <a:off xmlns:a="http://schemas.openxmlformats.org/drawingml/2006/main" x="685800" y="1762125"/>
          <a:ext xmlns:a="http://schemas.openxmlformats.org/drawingml/2006/main" cx="10820400" cy="4229100"/>
        </p:xfrm>
        <a:graphic xmlns:a="http://schemas.openxmlformats.org/drawingml/2006/main">
          <a:graphicData uri="http://schemas.openxmlformats.org/drawingml/2006/table">
            <a:tbl>
              <a:tblPr/>
              <a:tblGrid>
                <a:gridCol w="2333625"/>
                <a:gridCol w="4238625"/>
                <a:gridCol w="4248150"/>
              </a:tblGrid>
              <a:tr h="704850">
                <a:tc>
                  <a:txBody>
                    <a:bodyPr lIns="114300" tIns="76200" rIns="114300" bIns="76200"/>
                    <a:lstStyle/>
                    <a:p>
                      <a:r>
                        <a:rPr sz="1650" b="1">
                          <a:solidFill>
                            <a:srgbClr val="183544"/>
                          </a:solidFill>
                        </a:rPr>
                        <a:t>Aspect</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Group model</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Earlier project</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704850">
                <a:tc>
                  <a:txBody>
                    <a:bodyPr lIns="114300" tIns="76200" rIns="114300" bIns="76200"/>
                    <a:lstStyle/>
                    <a:p>
                      <a:r>
                        <a:rPr sz="1650" b="0">
                          <a:solidFill>
                            <a:srgbClr val="183544"/>
                          </a:solidFill>
                        </a:rPr>
                        <a:t>Power units</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MW</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Per-unit internally</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Generator shutdown</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Restart permitted next round</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Persistent shutdown</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Response ties</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Single objective</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Economic tie-break</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Solver precision</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Default MIP gap</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Explicit 1e-8</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Attack guidance</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Top-flow shortlist</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Multiple network properties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7A3997E1-EF43-4DC0-A9FC-ABF90316A030}"/>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5</a:t>
            </a:r>
          </a:p>
        </p:txBody>
      </p:sp>
    </p:spTree>
    <p:extLst>
      <p:ext uri="{BB962C8B-B14F-4D97-AF65-F5344CB8AC3E}">
        <p14:creationId xmlns:p14="http://schemas.microsoft.com/office/powerpoint/2010/main" val="249914831"/>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9509C36-F785-460F-B4D1-F3DE32A00BC8}"/>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The same attack can produce different loss</a:t>
            </a:r>
          </a:p>
        </p:txBody>
      </p:sp>
      <p:graphicFrame>
        <p:nvGraphicFramePr>
          <p:cNvPr id="3" name="Chart">
            <a:extLst xmlns:a="http://schemas.openxmlformats.org/drawingml/2006/main">
              <a:ext uri="{FF2B5EF4-FFF2-40B4-BE49-F238E27FC236}">
                <a16:creationId xmlns:a16="http://schemas.microsoft.com/office/drawing/2014/main" id="{414005F7-BDB8-4D5E-858E-975352CCF041}"/>
              </a:ext>
            </a:extLst>
          </p:cNvPr>
          <p:cNvGraphicFramePr/>
          <p:nvPr/>
        </p:nvGraphicFramePr>
        <p:xfrm>
          <a:off xmlns:a="http://schemas.openxmlformats.org/drawingml/2006/main" x="685800" y="1714500"/>
          <a:ext xmlns:a="http://schemas.openxmlformats.org/drawingml/2006/main" cx="10820400" cy="4191000"/>
        </p:xfrm>
        <a:graphic xmlns:a="http://schemas.openxmlformats.org/drawingml/2006/main">
          <a:graphicData uri="http://schemas.openxmlformats.org/drawingml/2006/chart">
            <c:chart xmlns:r="http://schemas.openxmlformats.org/officeDocument/2006/relationships" xmlns:c="http://schemas.openxmlformats.org/drawingml/2006/chart" r:id="R684249bac64948cd"/>
          </a:graphicData>
        </a:graphic>
      </p:graphicFrame>
      <p:sp>
        <p:nvSpPr>
          <p:cNvPr id="4" name="">
            <a:extLst xmlns:a="http://schemas.openxmlformats.org/drawingml/2006/main">
              <a:ext uri="{FF2B5EF4-FFF2-40B4-BE49-F238E27FC236}">
                <a16:creationId xmlns:a16="http://schemas.microsoft.com/office/drawing/2014/main" id="{FACB5FE2-2E7D-481F-8C4B-872CDFFFA23F}"/>
              </a:ext>
            </a:extLst>
          </p:cNvPr>
          <p:cNvSpPr>
            <a:spLocks xmlns:a="http://schemas.openxmlformats.org/drawingml/2006/main" noGrp="1"/>
          </p:cNvSpPr>
          <p:nvPr/>
        </p:nvSpPr>
        <p:spPr>
          <a:xfrm xmlns:a="http://schemas.openxmlformats.org/drawingml/2006/main">
            <a:off x="723900" y="61912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86D75"/>
                </a:solidFill>
              </a:defRPr>
            </a:defPPr>
            <a:lvl1pPr>
              <a:defRPr sz="1425" b="0">
                <a:solidFill>
                  <a:srgbClr val="586D75"/>
                </a:solidFill>
              </a:defRPr>
            </a:lvl1pPr>
            <a:lvl2pPr>
              <a:defRPr sz="1425" b="0">
                <a:solidFill>
                  <a:srgbClr val="586D75"/>
                </a:solidFill>
              </a:defRPr>
            </a:lvl2pPr>
            <a:lvl3pPr>
              <a:defRPr sz="1425" b="0">
                <a:solidFill>
                  <a:srgbClr val="586D75"/>
                </a:solidFill>
              </a:defRPr>
            </a:lvl3pPr>
            <a:lvl4pPr>
              <a:defRPr sz="1425" b="0">
                <a:solidFill>
                  <a:srgbClr val="586D75"/>
                </a:solidFill>
              </a:defRPr>
            </a:lvl4pPr>
            <a:lvl5pPr>
              <a:defRPr sz="1425" b="0">
                <a:solidFill>
                  <a:srgbClr val="586D75"/>
                </a:solidFill>
              </a:defRPr>
            </a:lvl5pPr>
            <a:lvl6pPr>
              <a:defRPr sz="1425" b="0">
                <a:solidFill>
                  <a:srgbClr val="586D75"/>
                </a:solidFill>
              </a:defRPr>
            </a:lvl6pPr>
            <a:lvl7pPr>
              <a:defRPr sz="1425" b="0">
                <a:solidFill>
                  <a:srgbClr val="586D75"/>
                </a:solidFill>
              </a:defRPr>
            </a:lvl7pPr>
            <a:lvl8pPr>
              <a:defRPr sz="1425" b="0">
                <a:solidFill>
                  <a:srgbClr val="586D75"/>
                </a:solidFill>
              </a:defRPr>
            </a:lvl8pPr>
            <a:lvl9pPr>
              <a:defRPr sz="1425" b="0">
                <a:solidFill>
                  <a:srgbClr val="586D75"/>
                </a:solidFill>
              </a:defRPr>
            </a:lvl9pPr>
          </a:lstStyle>
          <a:p xmlns:a="http://schemas.openxmlformats.org/drawingml/2006/main">
            <a:pPr>
              <a:defRPr sz="1425" b="0">
                <a:solidFill>
                  <a:srgbClr val="586D75"/>
                </a:solidFill>
              </a:defRPr>
            </a:pPr>
            <a:r>
              <a:rPr sz="1425" b="0">
                <a:solidFill>
                  <a:srgbClr val="586D75"/>
                </a:solidFill>
              </a:rPr>
              <a:t>Selected fixed attacks on unperturbed identical inputs</a:t>
            </a:r>
          </a:p>
        </p:txBody>
      </p:sp>
      <p:sp>
        <p:nvSpPr>
          <p:cNvPr id="5" name="">
            <a:extLst xmlns:a="http://schemas.openxmlformats.org/drawingml/2006/main">
              <a:ext uri="{FF2B5EF4-FFF2-40B4-BE49-F238E27FC236}">
                <a16:creationId xmlns:a16="http://schemas.microsoft.com/office/drawing/2014/main" id="{9E871D43-7783-402A-AC71-67A30AB9CBDA}"/>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6</a:t>
            </a:r>
          </a:p>
        </p:txBody>
      </p:sp>
    </p:spTree>
    <p:extLst>
      <p:ext uri="{BB962C8B-B14F-4D97-AF65-F5344CB8AC3E}">
        <p14:creationId xmlns:p14="http://schemas.microsoft.com/office/powerpoint/2010/main" val="1866855648"/>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75A8AB-A883-4A62-831F-78E713C8E892}"/>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Original reproduction rerun</a:t>
            </a:r>
          </a:p>
        </p:txBody>
      </p:sp>
      <p:sp>
        <p:nvSpPr>
          <p:cNvPr id="3" name="">
            <a:extLst xmlns:a="http://schemas.openxmlformats.org/drawingml/2006/main">
              <a:ext uri="{FF2B5EF4-FFF2-40B4-BE49-F238E27FC236}">
                <a16:creationId xmlns:a16="http://schemas.microsoft.com/office/drawing/2014/main" id="{5F470B9B-4A03-4873-90C5-E949B243E8E6}"/>
              </a:ext>
            </a:extLst>
          </p:cNvPr>
          <p:cNvSpPr>
            <a:spLocks xmlns:a="http://schemas.openxmlformats.org/drawingml/2006/main" noGrp="1"/>
          </p:cNvSpPr>
          <p:nvPr/>
        </p:nvSpPr>
        <p:spPr>
          <a:xfrm xmlns:a="http://schemas.openxmlformats.org/drawingml/2006/main">
            <a:off x="742950" y="18859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The original driver completed 311 measured rows and seven plots.</a:t>
            </a:r>
          </a:p>
        </p:txBody>
      </p:sp>
      <p:sp>
        <p:nvSpPr>
          <p:cNvPr id="4" name="">
            <a:extLst xmlns:a="http://schemas.openxmlformats.org/drawingml/2006/main">
              <a:ext uri="{FF2B5EF4-FFF2-40B4-BE49-F238E27FC236}">
                <a16:creationId xmlns:a16="http://schemas.microsoft.com/office/drawing/2014/main" id="{0D58F70D-7B23-420B-A35A-7EC413BF6FDF}"/>
              </a:ext>
            </a:extLst>
          </p:cNvPr>
          <p:cNvSpPr>
            <a:spLocks xmlns:a="http://schemas.openxmlformats.org/drawingml/2006/main" noGrp="1"/>
          </p:cNvSpPr>
          <p:nvPr/>
        </p:nvSpPr>
        <p:spPr>
          <a:xfrm xmlns:a="http://schemas.openxmlformats.org/drawingml/2006/main">
            <a:off x="742950" y="29337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Its unchanged checker fails because case 162, k=8 is missing.</a:t>
            </a:r>
          </a:p>
        </p:txBody>
      </p:sp>
      <p:sp>
        <p:nvSpPr>
          <p:cNvPr id="5" name="">
            <a:extLst xmlns:a="http://schemas.openxmlformats.org/drawingml/2006/main">
              <a:ext uri="{FF2B5EF4-FFF2-40B4-BE49-F238E27FC236}">
                <a16:creationId xmlns:a16="http://schemas.microsoft.com/office/drawing/2014/main" id="{3B201ECF-4D9A-4892-A086-651E97DF353F}"/>
              </a:ext>
            </a:extLst>
          </p:cNvPr>
          <p:cNvSpPr>
            <a:spLocks xmlns:a="http://schemas.openxmlformats.org/drawingml/2006/main" noGrp="1"/>
          </p:cNvSpPr>
          <p:nvPr/>
        </p:nvSpPr>
        <p:spPr>
          <a:xfrm xmlns:a="http://schemas.openxmlformats.org/drawingml/2006/main">
            <a:off x="742950" y="39814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Fresh replay confirms the eighth response MILP is infeasible.</a:t>
            </a:r>
          </a:p>
        </p:txBody>
      </p:sp>
      <p:sp>
        <p:nvSpPr>
          <p:cNvPr id="6" name="">
            <a:extLst xmlns:a="http://schemas.openxmlformats.org/drawingml/2006/main">
              <a:ext uri="{FF2B5EF4-FFF2-40B4-BE49-F238E27FC236}">
                <a16:creationId xmlns:a16="http://schemas.microsoft.com/office/drawing/2014/main" id="{FC27B53E-1065-4310-8311-86EEBEF22651}"/>
              </a:ext>
            </a:extLst>
          </p:cNvPr>
          <p:cNvSpPr>
            <a:spLocks xmlns:a="http://schemas.openxmlformats.org/drawingml/2006/main" noGrp="1"/>
          </p:cNvSpPr>
          <p:nvPr/>
        </p:nvSpPr>
        <p:spPr>
          <a:xfrm xmlns:a="http://schemas.openxmlformats.org/drawingml/2006/main">
            <a:off x="742950" y="5029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Selected reference matches coexist with larger discrepancies.</a:t>
            </a:r>
          </a:p>
        </p:txBody>
      </p:sp>
      <p:sp>
        <p:nvSpPr>
          <p:cNvPr id="7" name="">
            <a:extLst xmlns:a="http://schemas.openxmlformats.org/drawingml/2006/main">
              <a:ext uri="{FF2B5EF4-FFF2-40B4-BE49-F238E27FC236}">
                <a16:creationId xmlns:a16="http://schemas.microsoft.com/office/drawing/2014/main" id="{00CD8F42-1FCB-4493-9294-49A3B89ACD18}"/>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7</a:t>
            </a:r>
          </a:p>
        </p:txBody>
      </p:sp>
    </p:spTree>
    <p:extLst>
      <p:ext uri="{BB962C8B-B14F-4D97-AF65-F5344CB8AC3E}">
        <p14:creationId xmlns:p14="http://schemas.microsoft.com/office/powerpoint/2010/main" val="868416164"/>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D6F1AF-A2A7-49FE-BBF1-E342C422A7CE}"/>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Critique and the three extensions</a:t>
            </a:r>
          </a:p>
        </p:txBody>
      </p:sp>
      <p:graphicFrame>
        <p:nvGraphicFramePr>
          <p:cNvPr id="3" name="">
            <a:extLst xmlns:a="http://schemas.openxmlformats.org/drawingml/2006/main">
              <a:ext uri="{FF2B5EF4-FFF2-40B4-BE49-F238E27FC236}">
                <a16:creationId xmlns:a16="http://schemas.microsoft.com/office/drawing/2014/main" id="{F221C4AB-2A9A-46BD-A43A-FE07976C49FB}"/>
              </a:ext>
            </a:extLst>
          </p:cNvPr>
          <p:cNvGraphicFramePr/>
          <p:nvPr/>
        </p:nvGraphicFramePr>
        <p:xfrm>
          <a:off xmlns:a="http://schemas.openxmlformats.org/drawingml/2006/main" x="685800" y="1762125"/>
          <a:ext xmlns:a="http://schemas.openxmlformats.org/drawingml/2006/main" cx="10820400" cy="2819400"/>
        </p:xfrm>
        <a:graphic xmlns:a="http://schemas.openxmlformats.org/drawingml/2006/main">
          <a:graphicData uri="http://schemas.openxmlformats.org/drawingml/2006/table">
            <a:tbl>
              <a:tblPr/>
              <a:tblGrid>
                <a:gridCol w="2333625"/>
                <a:gridCol w="4238625"/>
                <a:gridCol w="4248150"/>
              </a:tblGrid>
              <a:tr h="704850">
                <a:tc>
                  <a:txBody>
                    <a:bodyPr lIns="114300" tIns="76200" rIns="114300" bIns="76200"/>
                    <a:lstStyle/>
                    <a:p>
                      <a:r>
                        <a:rPr sz="1650" b="1">
                          <a:solidFill>
                            <a:srgbClr val="183544"/>
                          </a:solidFill>
                        </a:rPr>
                        <a:t>Gap</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Extension</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Practical question</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704850">
                <a:tc>
                  <a:txBody>
                    <a:bodyPr lIns="114300" tIns="76200" rIns="114300" bIns="76200"/>
                    <a:lstStyle/>
                    <a:p>
                      <a:r>
                        <a:rPr sz="1650" b="0">
                          <a:solidFill>
                            <a:srgbClr val="183544"/>
                          </a:solidFill>
                        </a:rPr>
                        <a:t>No investment selection</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Scenario-aware protection</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Which limited set of lines should we protect?</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Fixed response epochs</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Variable response windows</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What changes when failures arrive closer together?</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All MW valued equally</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Critical-service objectives</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Which services should retain power first?</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7BB937A2-C603-41C6-A1B2-CFB3599BB045}"/>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8</a:t>
            </a:r>
          </a:p>
        </p:txBody>
      </p:sp>
    </p:spTree>
    <p:extLst>
      <p:ext uri="{BB962C8B-B14F-4D97-AF65-F5344CB8AC3E}">
        <p14:creationId xmlns:p14="http://schemas.microsoft.com/office/powerpoint/2010/main" val="628210931"/>
      </p:ext>
    </p:extLst>
  </p:cSld>
</p:sld>
</file>

<file path=ppt/slides/slide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0A885A8-D88C-429E-A30D-357F07BF7270}"/>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Evaluation design</a:t>
            </a:r>
          </a:p>
        </p:txBody>
      </p:sp>
      <p:graphicFrame>
        <p:nvGraphicFramePr>
          <p:cNvPr id="3" name="">
            <a:extLst xmlns:a="http://schemas.openxmlformats.org/drawingml/2006/main">
              <a:ext uri="{FF2B5EF4-FFF2-40B4-BE49-F238E27FC236}">
                <a16:creationId xmlns:a16="http://schemas.microsoft.com/office/drawing/2014/main" id="{C692AEDC-E923-4C06-BA35-55E2FC120AAA}"/>
              </a:ext>
            </a:extLst>
          </p:cNvPr>
          <p:cNvGraphicFramePr/>
          <p:nvPr/>
        </p:nvGraphicFramePr>
        <p:xfrm>
          <a:off xmlns:a="http://schemas.openxmlformats.org/drawingml/2006/main" x="685800" y="1762125"/>
          <a:ext xmlns:a="http://schemas.openxmlformats.org/drawingml/2006/main" cx="10820400" cy="2819400"/>
        </p:xfrm>
        <a:graphic xmlns:a="http://schemas.openxmlformats.org/drawingml/2006/main">
          <a:graphicData uri="http://schemas.openxmlformats.org/drawingml/2006/table">
            <a:tbl>
              <a:tblPr/>
              <a:tblGrid>
                <a:gridCol w="2333625"/>
                <a:gridCol w="4238625"/>
                <a:gridCol w="4248150"/>
              </a:tblGrid>
              <a:tr h="704850">
                <a:tc>
                  <a:txBody>
                    <a:bodyPr lIns="114300" tIns="76200" rIns="114300" bIns="76200"/>
                    <a:lstStyle/>
                    <a:p>
                      <a:r>
                        <a:rPr sz="1650" b="1">
                          <a:solidFill>
                            <a:srgbClr val="183544"/>
                          </a:solidFill>
                        </a:rPr>
                        <a:t>Study</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Cases</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Comparison scope</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704850">
                <a:tc>
                  <a:txBody>
                    <a:bodyPr lIns="114300" tIns="76200" rIns="114300" bIns="76200"/>
                    <a:lstStyle/>
                    <a:p>
                      <a:r>
                        <a:rPr sz="1650" b="0">
                          <a:solidFill>
                            <a:srgbClr val="183544"/>
                          </a:solidFill>
                        </a:rPr>
                        <a:t>Protection</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14, 39</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All ordered pairs, train/test split, q=0-3</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Timing</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14, 39, 118</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Common triple-order cohort, three horizons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Priority</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14, 39, 118</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All pairs on 14, shared targeted cohort on 39/118</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35E91E57-B393-4FCC-A982-497BFD9CF210}"/>
              </a:ext>
            </a:extLst>
          </p:cNvPr>
          <p:cNvSpPr>
            <a:spLocks xmlns:a="http://schemas.openxmlformats.org/drawingml/2006/main" noGrp="1"/>
          </p:cNvSpPr>
          <p:nvPr/>
        </p:nvSpPr>
        <p:spPr>
          <a:xfrm xmlns:a="http://schemas.openxmlformats.org/drawingml/2006/main">
            <a:off x="723900" y="61912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86D75"/>
                </a:solidFill>
              </a:defRPr>
            </a:defPPr>
            <a:lvl1pPr>
              <a:defRPr sz="1425" b="0">
                <a:solidFill>
                  <a:srgbClr val="586D75"/>
                </a:solidFill>
              </a:defRPr>
            </a:lvl1pPr>
            <a:lvl2pPr>
              <a:defRPr sz="1425" b="0">
                <a:solidFill>
                  <a:srgbClr val="586D75"/>
                </a:solidFill>
              </a:defRPr>
            </a:lvl2pPr>
            <a:lvl3pPr>
              <a:defRPr sz="1425" b="0">
                <a:solidFill>
                  <a:srgbClr val="586D75"/>
                </a:solidFill>
              </a:defRPr>
            </a:lvl3pPr>
            <a:lvl4pPr>
              <a:defRPr sz="1425" b="0">
                <a:solidFill>
                  <a:srgbClr val="586D75"/>
                </a:solidFill>
              </a:defRPr>
            </a:lvl4pPr>
            <a:lvl5pPr>
              <a:defRPr sz="1425" b="0">
                <a:solidFill>
                  <a:srgbClr val="586D75"/>
                </a:solidFill>
              </a:defRPr>
            </a:lvl5pPr>
            <a:lvl6pPr>
              <a:defRPr sz="1425" b="0">
                <a:solidFill>
                  <a:srgbClr val="586D75"/>
                </a:solidFill>
              </a:defRPr>
            </a:lvl6pPr>
            <a:lvl7pPr>
              <a:defRPr sz="1425" b="0">
                <a:solidFill>
                  <a:srgbClr val="586D75"/>
                </a:solidFill>
              </a:defRPr>
            </a:lvl7pPr>
            <a:lvl8pPr>
              <a:defRPr sz="1425" b="0">
                <a:solidFill>
                  <a:srgbClr val="586D75"/>
                </a:solidFill>
              </a:defRPr>
            </a:lvl8pPr>
            <a:lvl9pPr>
              <a:defRPr sz="1425" b="0">
                <a:solidFill>
                  <a:srgbClr val="586D75"/>
                </a:solidFill>
              </a:defRPr>
            </a:lvl9pPr>
          </a:lstStyle>
          <a:p xmlns:a="http://schemas.openxmlformats.org/drawingml/2006/main">
            <a:pPr>
              <a:defRPr sz="1425" b="0">
                <a:solidFill>
                  <a:srgbClr val="586D75"/>
                </a:solidFill>
              </a:defRPr>
            </a:pPr>
            <a:r>
              <a:rPr sz="1425" b="0">
                <a:solidFill>
                  <a:srgbClr val="586D75"/>
                </a:solidFill>
              </a:rPr>
              <a:t>Demand scenarios are the experimental unit</a:t>
            </a:r>
          </a:p>
        </p:txBody>
      </p:sp>
      <p:sp>
        <p:nvSpPr>
          <p:cNvPr id="5" name="">
            <a:extLst xmlns:a="http://schemas.openxmlformats.org/drawingml/2006/main">
              <a:ext uri="{FF2B5EF4-FFF2-40B4-BE49-F238E27FC236}">
                <a16:creationId xmlns:a16="http://schemas.microsoft.com/office/drawing/2014/main" id="{DAD7F571-D271-48D9-9C35-8EE56B2C7493}"/>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9</a:t>
            </a:r>
          </a:p>
        </p:txBody>
      </p:sp>
    </p:spTree>
    <p:extLst>
      <p:ext uri="{BB962C8B-B14F-4D97-AF65-F5344CB8AC3E}">
        <p14:creationId xmlns:p14="http://schemas.microsoft.com/office/powerpoint/2010/main" val="2082823380"/>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4960577-579E-46C2-83AF-C66A7B92D9F8}"/>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Extension 1: adaptive line protection</a:t>
            </a:r>
          </a:p>
        </p:txBody>
      </p:sp>
      <p:sp>
        <p:nvSpPr>
          <p:cNvPr id="3" name="">
            <a:extLst xmlns:a="http://schemas.openxmlformats.org/drawingml/2006/main">
              <a:ext uri="{FF2B5EF4-FFF2-40B4-BE49-F238E27FC236}">
                <a16:creationId xmlns:a16="http://schemas.microsoft.com/office/drawing/2014/main" id="{CF168638-2582-488F-8071-606BCC4A1389}"/>
              </a:ext>
            </a:extLst>
          </p:cNvPr>
          <p:cNvSpPr>
            <a:spLocks xmlns:a="http://schemas.openxmlformats.org/drawingml/2006/main" noGrp="1"/>
          </p:cNvSpPr>
          <p:nvPr/>
        </p:nvSpPr>
        <p:spPr>
          <a:xfrm xmlns:a="http://schemas.openxmlformats.org/drawingml/2006/main">
            <a:off x="742950" y="18859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Build complete k=2 ordered-outage tables for each design demand.</a:t>
            </a:r>
          </a:p>
        </p:txBody>
      </p:sp>
      <p:sp>
        <p:nvSpPr>
          <p:cNvPr id="4" name="">
            <a:extLst xmlns:a="http://schemas.openxmlformats.org/drawingml/2006/main">
              <a:ext uri="{FF2B5EF4-FFF2-40B4-BE49-F238E27FC236}">
                <a16:creationId xmlns:a16="http://schemas.microsoft.com/office/drawing/2014/main" id="{859E7F44-E77A-4070-8333-1E8405DB1C66}"/>
              </a:ext>
            </a:extLst>
          </p:cNvPr>
          <p:cNvSpPr>
            <a:spLocks xmlns:a="http://schemas.openxmlformats.org/drawingml/2006/main" noGrp="1"/>
          </p:cNvSpPr>
          <p:nvPr/>
        </p:nvSpPr>
        <p:spPr>
          <a:xfrm xmlns:a="http://schemas.openxmlformats.org/drawingml/2006/main">
            <a:off x="742950" y="29337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Add the protected line that minimizes worst design-scenario loss.</a:t>
            </a:r>
          </a:p>
        </p:txBody>
      </p:sp>
      <p:sp>
        <p:nvSpPr>
          <p:cNvPr id="5" name="">
            <a:extLst xmlns:a="http://schemas.openxmlformats.org/drawingml/2006/main">
              <a:ext uri="{FF2B5EF4-FFF2-40B4-BE49-F238E27FC236}">
                <a16:creationId xmlns:a16="http://schemas.microsoft.com/office/drawing/2014/main" id="{FAB44814-DDFC-413F-9645-61A084ECF08C}"/>
              </a:ext>
            </a:extLst>
          </p:cNvPr>
          <p:cNvSpPr>
            <a:spLocks xmlns:a="http://schemas.openxmlformats.org/drawingml/2006/main" noGrp="1"/>
          </p:cNvSpPr>
          <p:nvPr/>
        </p:nvSpPr>
        <p:spPr>
          <a:xfrm xmlns:a="http://schemas.openxmlformats.org/drawingml/2006/main">
            <a:off x="742950" y="39814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After choosing q lines, let the attack adapt over every eligible pair.</a:t>
            </a:r>
          </a:p>
        </p:txBody>
      </p:sp>
      <p:sp>
        <p:nvSpPr>
          <p:cNvPr id="6" name="">
            <a:extLst xmlns:a="http://schemas.openxmlformats.org/drawingml/2006/main">
              <a:ext uri="{FF2B5EF4-FFF2-40B4-BE49-F238E27FC236}">
                <a16:creationId xmlns:a16="http://schemas.microsoft.com/office/drawing/2014/main" id="{0859D813-14D5-4304-AEC4-32D9C98EE817}"/>
              </a:ext>
            </a:extLst>
          </p:cNvPr>
          <p:cNvSpPr>
            <a:spLocks xmlns:a="http://schemas.openxmlformats.org/drawingml/2006/main" noGrp="1"/>
          </p:cNvSpPr>
          <p:nvPr/>
        </p:nvSpPr>
        <p:spPr>
          <a:xfrm xmlns:a="http://schemas.openxmlformats.org/drawingml/2006/main">
            <a:off x="742950" y="5029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Compare random, flow, betweenness, single-scenario and simultaneous designs.</a:t>
            </a:r>
          </a:p>
        </p:txBody>
      </p:sp>
      <p:sp>
        <p:nvSpPr>
          <p:cNvPr id="7" name="">
            <a:extLst xmlns:a="http://schemas.openxmlformats.org/drawingml/2006/main">
              <a:ext uri="{FF2B5EF4-FFF2-40B4-BE49-F238E27FC236}">
                <a16:creationId xmlns:a16="http://schemas.microsoft.com/office/drawing/2014/main" id="{FB746B9D-CED2-460A-B83D-2834E1E8F21A}"/>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10</a:t>
            </a:r>
          </a:p>
        </p:txBody>
      </p:sp>
    </p:spTree>
    <p:extLst>
      <p:ext uri="{BB962C8B-B14F-4D97-AF65-F5344CB8AC3E}">
        <p14:creationId xmlns:p14="http://schemas.microsoft.com/office/powerpoint/2010/main" val="1039683272"/>
      </p:ext>
    </p:extLst>
  </p:cSld>
</p:sld>
</file>

<file path=ppt/slides/slide1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8DC4FB-7AB6-4F4D-992D-FA1AAE382B28}"/>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Protection on case 14</a:t>
            </a:r>
          </a:p>
        </p:txBody>
      </p:sp>
      <p:graphicFrame>
        <p:nvGraphicFramePr>
          <p:cNvPr id="3" name="Chart">
            <a:extLst xmlns:a="http://schemas.openxmlformats.org/drawingml/2006/main">
              <a:ext uri="{FF2B5EF4-FFF2-40B4-BE49-F238E27FC236}">
                <a16:creationId xmlns:a16="http://schemas.microsoft.com/office/drawing/2014/main" id="{9BF5FCB7-BEB0-41C3-B90C-410E231B5DE5}"/>
              </a:ext>
            </a:extLst>
          </p:cNvPr>
          <p:cNvGraphicFramePr/>
          <p:nvPr/>
        </p:nvGraphicFramePr>
        <p:xfrm>
          <a:off xmlns:a="http://schemas.openxmlformats.org/drawingml/2006/main" x="685800" y="1714500"/>
          <a:ext xmlns:a="http://schemas.openxmlformats.org/drawingml/2006/main" cx="10820400" cy="4191000"/>
        </p:xfrm>
        <a:graphic xmlns:a="http://schemas.openxmlformats.org/drawingml/2006/main">
          <a:graphicData uri="http://schemas.openxmlformats.org/drawingml/2006/chart">
            <c:chart xmlns:r="http://schemas.openxmlformats.org/officeDocument/2006/relationships" xmlns:c="http://schemas.openxmlformats.org/drawingml/2006/chart" r:id="Ra50cba0ef1bd4f14"/>
          </a:graphicData>
        </a:graphic>
      </p:graphicFrame>
      <p:sp>
        <p:nvSpPr>
          <p:cNvPr id="4" name="">
            <a:extLst xmlns:a="http://schemas.openxmlformats.org/drawingml/2006/main">
              <a:ext uri="{FF2B5EF4-FFF2-40B4-BE49-F238E27FC236}">
                <a16:creationId xmlns:a16="http://schemas.microsoft.com/office/drawing/2014/main" id="{41BAA255-9442-4278-88BA-C3926CABE4FC}"/>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11</a:t>
            </a:r>
          </a:p>
        </p:txBody>
      </p:sp>
    </p:spTree>
    <p:extLst>
      <p:ext uri="{BB962C8B-B14F-4D97-AF65-F5344CB8AC3E}">
        <p14:creationId xmlns:p14="http://schemas.microsoft.com/office/powerpoint/2010/main" val="634189767"/>
      </p:ext>
    </p:extLst>
  </p:cSld>
</p:sld>
</file>

<file path=ppt/slides/slide1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1DBD86C-D45B-4C1E-AD2C-204166DC0BD8}"/>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Protection on case 39</a:t>
            </a:r>
          </a:p>
        </p:txBody>
      </p:sp>
      <p:graphicFrame>
        <p:nvGraphicFramePr>
          <p:cNvPr id="3" name="Chart">
            <a:extLst xmlns:a="http://schemas.openxmlformats.org/drawingml/2006/main">
              <a:ext uri="{FF2B5EF4-FFF2-40B4-BE49-F238E27FC236}">
                <a16:creationId xmlns:a16="http://schemas.microsoft.com/office/drawing/2014/main" id="{B03726A4-E1AB-42A0-B37D-9A46E85F0265}"/>
              </a:ext>
            </a:extLst>
          </p:cNvPr>
          <p:cNvGraphicFramePr/>
          <p:nvPr/>
        </p:nvGraphicFramePr>
        <p:xfrm>
          <a:off xmlns:a="http://schemas.openxmlformats.org/drawingml/2006/main" x="685800" y="1714500"/>
          <a:ext xmlns:a="http://schemas.openxmlformats.org/drawingml/2006/main" cx="10820400" cy="4191000"/>
        </p:xfrm>
        <a:graphic xmlns:a="http://schemas.openxmlformats.org/drawingml/2006/main">
          <a:graphicData uri="http://schemas.openxmlformats.org/drawingml/2006/chart">
            <c:chart xmlns:r="http://schemas.openxmlformats.org/officeDocument/2006/relationships" xmlns:c="http://schemas.openxmlformats.org/drawingml/2006/chart" r:id="R14eda23da0ed43ee"/>
          </a:graphicData>
        </a:graphic>
      </p:graphicFrame>
      <p:sp>
        <p:nvSpPr>
          <p:cNvPr id="4" name="">
            <a:extLst xmlns:a="http://schemas.openxmlformats.org/drawingml/2006/main">
              <a:ext uri="{FF2B5EF4-FFF2-40B4-BE49-F238E27FC236}">
                <a16:creationId xmlns:a16="http://schemas.microsoft.com/office/drawing/2014/main" id="{7419DF78-57E2-4ECA-9CA4-960373FC8B17}"/>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12</a:t>
            </a:r>
          </a:p>
        </p:txBody>
      </p:sp>
    </p:spTree>
    <p:extLst>
      <p:ext uri="{BB962C8B-B14F-4D97-AF65-F5344CB8AC3E}">
        <p14:creationId xmlns:p14="http://schemas.microsoft.com/office/powerpoint/2010/main" val="274409488"/>
      </p:ext>
    </p:extLst>
  </p:cSld>
</p:sld>
</file>

<file path=ppt/slides/slide1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A6D579E-DF45-4B81-B5F3-91BA38988595}"/>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Protection under shifted conditions</a:t>
            </a:r>
          </a:p>
        </p:txBody>
      </p:sp>
      <p:sp>
        <p:nvSpPr>
          <p:cNvPr id="3" name="">
            <a:extLst xmlns:a="http://schemas.openxmlformats.org/drawingml/2006/main">
              <a:ext uri="{FF2B5EF4-FFF2-40B4-BE49-F238E27FC236}">
                <a16:creationId xmlns:a16="http://schemas.microsoft.com/office/drawing/2014/main" id="{BC584335-A891-4324-95FA-CFFD65BD83EB}"/>
              </a:ext>
            </a:extLst>
          </p:cNvPr>
          <p:cNvSpPr>
            <a:spLocks xmlns:a="http://schemas.openxmlformats.org/drawingml/2006/main" noGrp="1"/>
          </p:cNvSpPr>
          <p:nvPr/>
        </p:nvSpPr>
        <p:spPr>
          <a:xfrm xmlns:a="http://schemas.openxmlformats.org/drawingml/2006/main">
            <a:off x="742950" y="18859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Nominal robust design loses to flow in 10 of 36 feasible stress cells.</a:t>
            </a:r>
          </a:p>
        </p:txBody>
      </p:sp>
      <p:sp>
        <p:nvSpPr>
          <p:cNvPr id="4" name="">
            <a:extLst xmlns:a="http://schemas.openxmlformats.org/drawingml/2006/main">
              <a:ext uri="{FF2B5EF4-FFF2-40B4-BE49-F238E27FC236}">
                <a16:creationId xmlns:a16="http://schemas.microsoft.com/office/drawing/2014/main" id="{F5367157-C226-4E8B-8143-5F7ECEB2915B}"/>
              </a:ext>
            </a:extLst>
          </p:cNvPr>
          <p:cNvSpPr>
            <a:spLocks xmlns:a="http://schemas.openxmlformats.org/drawingml/2006/main" noGrp="1"/>
          </p:cNvSpPr>
          <p:nvPr/>
        </p:nvSpPr>
        <p:spPr>
          <a:xfrm xmlns:a="http://schemas.openxmlformats.org/drawingml/2006/main">
            <a:off x="742950" y="29337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Worst excess loss: 35.48 percentage points.</a:t>
            </a:r>
          </a:p>
        </p:txBody>
      </p:sp>
      <p:sp>
        <p:nvSpPr>
          <p:cNvPr id="5" name="">
            <a:extLst xmlns:a="http://schemas.openxmlformats.org/drawingml/2006/main">
              <a:ext uri="{FF2B5EF4-FFF2-40B4-BE49-F238E27FC236}">
                <a16:creationId xmlns:a16="http://schemas.microsoft.com/office/drawing/2014/main" id="{83618B75-8139-413B-A642-FE5A5484A0CE}"/>
              </a:ext>
            </a:extLst>
          </p:cNvPr>
          <p:cNvSpPr>
            <a:spLocks xmlns:a="http://schemas.openxmlformats.org/drawingml/2006/main" noGrp="1"/>
          </p:cNvSpPr>
          <p:nvPr/>
        </p:nvSpPr>
        <p:spPr>
          <a:xfrm xmlns:a="http://schemas.openxmlformats.org/drawingml/2006/main">
            <a:off x="742950" y="39814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36 policy rows have an infeasible intact starting scenario.</a:t>
            </a:r>
          </a:p>
        </p:txBody>
      </p:sp>
      <p:sp>
        <p:nvSpPr>
          <p:cNvPr id="6" name="">
            <a:extLst xmlns:a="http://schemas.openxmlformats.org/drawingml/2006/main">
              <a:ext uri="{FF2B5EF4-FFF2-40B4-BE49-F238E27FC236}">
                <a16:creationId xmlns:a16="http://schemas.microsoft.com/office/drawing/2014/main" id="{8174717F-1168-4AA9-8C5D-63906B7100FB}"/>
              </a:ext>
            </a:extLst>
          </p:cNvPr>
          <p:cNvSpPr>
            <a:spLocks xmlns:a="http://schemas.openxmlformats.org/drawingml/2006/main" noGrp="1"/>
          </p:cNvSpPr>
          <p:nvPr/>
        </p:nvSpPr>
        <p:spPr>
          <a:xfrm xmlns:a="http://schemas.openxmlformats.org/drawingml/2006/main">
            <a:off x="742950" y="5029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Next step: train protection across demand and ramp uncertainty.</a:t>
            </a:r>
          </a:p>
        </p:txBody>
      </p:sp>
      <p:sp>
        <p:nvSpPr>
          <p:cNvPr id="7" name="">
            <a:extLst xmlns:a="http://schemas.openxmlformats.org/drawingml/2006/main">
              <a:ext uri="{FF2B5EF4-FFF2-40B4-BE49-F238E27FC236}">
                <a16:creationId xmlns:a16="http://schemas.microsoft.com/office/drawing/2014/main" id="{07D55D7E-D900-4241-9F83-8063059394D7}"/>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13</a:t>
            </a:r>
          </a:p>
        </p:txBody>
      </p:sp>
    </p:spTree>
    <p:extLst>
      <p:ext uri="{BB962C8B-B14F-4D97-AF65-F5344CB8AC3E}">
        <p14:creationId xmlns:p14="http://schemas.microsoft.com/office/powerpoint/2010/main" val="1168023007"/>
      </p:ext>
    </p:extLst>
  </p:cSld>
</p:sld>
</file>

<file path=ppt/slides/slide1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DD7F35-56CB-410F-8477-46990426978A}"/>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Extension 2: matched response windows</a:t>
            </a:r>
          </a:p>
        </p:txBody>
      </p:sp>
      <p:graphicFrame>
        <p:nvGraphicFramePr>
          <p:cNvPr id="3" name="">
            <a:extLst xmlns:a="http://schemas.openxmlformats.org/drawingml/2006/main">
              <a:ext uri="{FF2B5EF4-FFF2-40B4-BE49-F238E27FC236}">
                <a16:creationId xmlns:a16="http://schemas.microsoft.com/office/drawing/2014/main" id="{C80786E4-9348-4E0D-B19C-AC68EA5E26C5}"/>
              </a:ext>
            </a:extLst>
          </p:cNvPr>
          <p:cNvGraphicFramePr/>
          <p:nvPr/>
        </p:nvGraphicFramePr>
        <p:xfrm>
          <a:off xmlns:a="http://schemas.openxmlformats.org/drawingml/2006/main" x="685800" y="1762125"/>
          <a:ext xmlns:a="http://schemas.openxmlformats.org/drawingml/2006/main" cx="10820400" cy="2819400"/>
        </p:xfrm>
        <a:graphic xmlns:a="http://schemas.openxmlformats.org/drawingml/2006/main">
          <a:graphicData uri="http://schemas.openxmlformats.org/drawingml/2006/table">
            <a:tbl>
              <a:tblPr/>
              <a:tblGrid>
                <a:gridCol w="2333625"/>
                <a:gridCol w="4238625"/>
                <a:gridCol w="4248150"/>
              </a:tblGrid>
              <a:tr h="704850">
                <a:tc>
                  <a:txBody>
                    <a:bodyPr lIns="114300" tIns="76200" rIns="114300" bIns="76200"/>
                    <a:lstStyle/>
                    <a:p>
                      <a:r>
                        <a:rPr sz="1650" b="1">
                          <a:solidFill>
                            <a:srgbClr val="183544"/>
                          </a:solidFill>
                        </a:rPr>
                        <a:t>Pattern</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Minutes at H=15</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Sequential failures</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704850">
                <a:tc>
                  <a:txBody>
                    <a:bodyPr lIns="114300" tIns="76200" rIns="114300" bIns="76200"/>
                    <a:lstStyle/>
                    <a:p>
                      <a:r>
                        <a:rPr sz="1650" b="0">
                          <a:solidFill>
                            <a:srgbClr val="183544"/>
                          </a:solidFill>
                        </a:rPr>
                        <a:t>Even</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5, 5, 5</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One new failure per window</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Early cluster</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1, 1, 13</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Short early responses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Late cluster</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13, 1, 1</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Short final responses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ECA36D2E-7FD4-4375-A777-D44C63F33826}"/>
              </a:ext>
            </a:extLst>
          </p:cNvPr>
          <p:cNvSpPr>
            <a:spLocks xmlns:a="http://schemas.openxmlformats.org/drawingml/2006/main" noGrp="1"/>
          </p:cNvSpPr>
          <p:nvPr/>
        </p:nvSpPr>
        <p:spPr>
          <a:xfrm xmlns:a="http://schemas.openxmlformats.org/drawingml/2006/main">
            <a:off x="723900" y="61912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86D75"/>
                </a:solidFill>
              </a:defRPr>
            </a:defPPr>
            <a:lvl1pPr>
              <a:defRPr sz="1425" b="0">
                <a:solidFill>
                  <a:srgbClr val="586D75"/>
                </a:solidFill>
              </a:defRPr>
            </a:lvl1pPr>
            <a:lvl2pPr>
              <a:defRPr sz="1425" b="0">
                <a:solidFill>
                  <a:srgbClr val="586D75"/>
                </a:solidFill>
              </a:defRPr>
            </a:lvl2pPr>
            <a:lvl3pPr>
              <a:defRPr sz="1425" b="0">
                <a:solidFill>
                  <a:srgbClr val="586D75"/>
                </a:solidFill>
              </a:defRPr>
            </a:lvl3pPr>
            <a:lvl4pPr>
              <a:defRPr sz="1425" b="0">
                <a:solidFill>
                  <a:srgbClr val="586D75"/>
                </a:solidFill>
              </a:defRPr>
            </a:lvl4pPr>
            <a:lvl5pPr>
              <a:defRPr sz="1425" b="0">
                <a:solidFill>
                  <a:srgbClr val="586D75"/>
                </a:solidFill>
              </a:defRPr>
            </a:lvl5pPr>
            <a:lvl6pPr>
              <a:defRPr sz="1425" b="0">
                <a:solidFill>
                  <a:srgbClr val="586D75"/>
                </a:solidFill>
              </a:defRPr>
            </a:lvl6pPr>
            <a:lvl7pPr>
              <a:defRPr sz="1425" b="0">
                <a:solidFill>
                  <a:srgbClr val="586D75"/>
                </a:solidFill>
              </a:defRPr>
            </a:lvl7pPr>
            <a:lvl8pPr>
              <a:defRPr sz="1425" b="0">
                <a:solidFill>
                  <a:srgbClr val="586D75"/>
                </a:solidFill>
              </a:defRPr>
            </a:lvl8pPr>
            <a:lvl9pPr>
              <a:defRPr sz="1425" b="0">
                <a:solidFill>
                  <a:srgbClr val="586D75"/>
                </a:solidFill>
              </a:defRPr>
            </a:lvl9pPr>
          </a:lstStyle>
          <a:p xmlns:a="http://schemas.openxmlformats.org/drawingml/2006/main">
            <a:pPr>
              <a:defRPr sz="1425" b="0">
                <a:solidFill>
                  <a:srgbClr val="586D75"/>
                </a:solidFill>
              </a:defRPr>
            </a:pPr>
            <a:r>
              <a:rPr sz="1425" b="0">
                <a:solidFill>
                  <a:srgbClr val="586D75"/>
                </a:solidFill>
              </a:rPr>
              <a:t>Both comparators receive three redispatch decisions</a:t>
            </a:r>
          </a:p>
        </p:txBody>
      </p:sp>
      <p:sp>
        <p:nvSpPr>
          <p:cNvPr id="5" name="">
            <a:extLst xmlns:a="http://schemas.openxmlformats.org/drawingml/2006/main">
              <a:ext uri="{FF2B5EF4-FFF2-40B4-BE49-F238E27FC236}">
                <a16:creationId xmlns:a16="http://schemas.microsoft.com/office/drawing/2014/main" id="{5402F722-FD9C-41C3-A979-D0B5E21316F4}"/>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14</a:t>
            </a:r>
          </a:p>
        </p:txBody>
      </p:sp>
    </p:spTree>
    <p:extLst>
      <p:ext uri="{BB962C8B-B14F-4D97-AF65-F5344CB8AC3E}">
        <p14:creationId xmlns:p14="http://schemas.microsoft.com/office/powerpoint/2010/main" val="470346131"/>
      </p:ext>
    </p:extLst>
  </p:cSld>
</p:sld>
</file>

<file path=ppt/slides/slide1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A46B82C-8A15-4771-ACD6-33E21E970A5F}"/>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Timing: final MW and time weighting differ</a:t>
            </a:r>
          </a:p>
        </p:txBody>
      </p:sp>
      <p:graphicFrame>
        <p:nvGraphicFramePr>
          <p:cNvPr id="3" name="Chart">
            <a:extLst xmlns:a="http://schemas.openxmlformats.org/drawingml/2006/main">
              <a:ext uri="{FF2B5EF4-FFF2-40B4-BE49-F238E27FC236}">
                <a16:creationId xmlns:a16="http://schemas.microsoft.com/office/drawing/2014/main" id="{D2194C35-7FE4-4546-B698-1BEB13981B51}"/>
              </a:ext>
            </a:extLst>
          </p:cNvPr>
          <p:cNvGraphicFramePr/>
          <p:nvPr/>
        </p:nvGraphicFramePr>
        <p:xfrm>
          <a:off xmlns:a="http://schemas.openxmlformats.org/drawingml/2006/main" x="685800" y="1714500"/>
          <a:ext xmlns:a="http://schemas.openxmlformats.org/drawingml/2006/main" cx="5200650" cy="4191000"/>
        </p:xfrm>
        <a:graphic xmlns:a="http://schemas.openxmlformats.org/drawingml/2006/main">
          <a:graphicData uri="http://schemas.openxmlformats.org/drawingml/2006/chart">
            <c:chart xmlns:r="http://schemas.openxmlformats.org/officeDocument/2006/relationships" xmlns:c="http://schemas.openxmlformats.org/drawingml/2006/chart" r:id="Rad5c80bf196f437a"/>
          </a:graphicData>
        </a:graphic>
      </p:graphicFrame>
      <p:graphicFrame>
        <p:nvGraphicFramePr>
          <p:cNvPr id="4" name="Chart">
            <a:extLst xmlns:a="http://schemas.openxmlformats.org/drawingml/2006/main">
              <a:ext uri="{FF2B5EF4-FFF2-40B4-BE49-F238E27FC236}">
                <a16:creationId xmlns:a16="http://schemas.microsoft.com/office/drawing/2014/main" id="{DE1CC76C-B989-4FB9-96AD-332DCD38B156}"/>
              </a:ext>
            </a:extLst>
          </p:cNvPr>
          <p:cNvGraphicFramePr/>
          <p:nvPr/>
        </p:nvGraphicFramePr>
        <p:xfrm>
          <a:off xmlns:a="http://schemas.openxmlformats.org/drawingml/2006/main" x="6305550" y="1714500"/>
          <a:ext xmlns:a="http://schemas.openxmlformats.org/drawingml/2006/main" cx="5200650" cy="4191000"/>
        </p:xfrm>
        <a:graphic xmlns:a="http://schemas.openxmlformats.org/drawingml/2006/main">
          <a:graphicData uri="http://schemas.openxmlformats.org/drawingml/2006/chart">
            <c:chart xmlns:r="http://schemas.openxmlformats.org/officeDocument/2006/relationships" xmlns:c="http://schemas.openxmlformats.org/drawingml/2006/chart" r:id="Rbefbcc3dde9949d5"/>
          </a:graphicData>
        </a:graphic>
      </p:graphicFrame>
      <p:sp>
        <p:nvSpPr>
          <p:cNvPr id="5" name="">
            <a:extLst xmlns:a="http://schemas.openxmlformats.org/drawingml/2006/main">
              <a:ext uri="{FF2B5EF4-FFF2-40B4-BE49-F238E27FC236}">
                <a16:creationId xmlns:a16="http://schemas.microsoft.com/office/drawing/2014/main" id="{4AF69B72-B9F9-47F5-BB6B-C644A5A7CCAE}"/>
              </a:ext>
            </a:extLst>
          </p:cNvPr>
          <p:cNvSpPr>
            <a:spLocks xmlns:a="http://schemas.openxmlformats.org/drawingml/2006/main" noGrp="1"/>
          </p:cNvSpPr>
          <p:nvPr/>
        </p:nvSpPr>
        <p:spPr>
          <a:xfrm xmlns:a="http://schemas.openxmlformats.org/drawingml/2006/main">
            <a:off x="723900" y="61912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86D75"/>
                </a:solidFill>
              </a:defRPr>
            </a:defPPr>
            <a:lvl1pPr>
              <a:defRPr sz="1425" b="0">
                <a:solidFill>
                  <a:srgbClr val="586D75"/>
                </a:solidFill>
              </a:defRPr>
            </a:lvl1pPr>
            <a:lvl2pPr>
              <a:defRPr sz="1425" b="0">
                <a:solidFill>
                  <a:srgbClr val="586D75"/>
                </a:solidFill>
              </a:defRPr>
            </a:lvl2pPr>
            <a:lvl3pPr>
              <a:defRPr sz="1425" b="0">
                <a:solidFill>
                  <a:srgbClr val="586D75"/>
                </a:solidFill>
              </a:defRPr>
            </a:lvl3pPr>
            <a:lvl4pPr>
              <a:defRPr sz="1425" b="0">
                <a:solidFill>
                  <a:srgbClr val="586D75"/>
                </a:solidFill>
              </a:defRPr>
            </a:lvl4pPr>
            <a:lvl5pPr>
              <a:defRPr sz="1425" b="0">
                <a:solidFill>
                  <a:srgbClr val="586D75"/>
                </a:solidFill>
              </a:defRPr>
            </a:lvl5pPr>
            <a:lvl6pPr>
              <a:defRPr sz="1425" b="0">
                <a:solidFill>
                  <a:srgbClr val="586D75"/>
                </a:solidFill>
              </a:defRPr>
            </a:lvl6pPr>
            <a:lvl7pPr>
              <a:defRPr sz="1425" b="0">
                <a:solidFill>
                  <a:srgbClr val="586D75"/>
                </a:solidFill>
              </a:defRPr>
            </a:lvl7pPr>
            <a:lvl8pPr>
              <a:defRPr sz="1425" b="0">
                <a:solidFill>
                  <a:srgbClr val="586D75"/>
                </a:solidFill>
              </a:defRPr>
            </a:lvl8pPr>
            <a:lvl9pPr>
              <a:defRPr sz="1425" b="0">
                <a:solidFill>
                  <a:srgbClr val="586D75"/>
                </a:solidFill>
              </a:defRPr>
            </a:lvl9pPr>
          </a:lstStyle>
          <a:p xmlns:a="http://schemas.openxmlformats.org/drawingml/2006/main">
            <a:pPr>
              <a:defRPr sz="1425" b="0">
                <a:solidFill>
                  <a:srgbClr val="586D75"/>
                </a:solidFill>
              </a:defRPr>
            </a:pPr>
            <a:r>
              <a:rPr sz="1425" b="0">
                <a:solidFill>
                  <a:srgbClr val="586D75"/>
                </a:solidFill>
              </a:rPr>
              <a:t>Case 118, 15 minutes; mean per-seed cohort maxima</a:t>
            </a:r>
          </a:p>
        </p:txBody>
      </p:sp>
      <p:sp>
        <p:nvSpPr>
          <p:cNvPr id="6" name="">
            <a:extLst xmlns:a="http://schemas.openxmlformats.org/drawingml/2006/main">
              <a:ext uri="{FF2B5EF4-FFF2-40B4-BE49-F238E27FC236}">
                <a16:creationId xmlns:a16="http://schemas.microsoft.com/office/drawing/2014/main" id="{E481EDAB-6F74-469F-A8F0-817698ECE418}"/>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15</a:t>
            </a:r>
          </a:p>
        </p:txBody>
      </p:sp>
    </p:spTree>
    <p:extLst>
      <p:ext uri="{BB962C8B-B14F-4D97-AF65-F5344CB8AC3E}">
        <p14:creationId xmlns:p14="http://schemas.microsoft.com/office/powerpoint/2010/main" val="1481196547"/>
      </p:ext>
    </p:extLst>
  </p:cSld>
</p:sld>
</file>

<file path=ppt/slides/slide1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9314063-B8BF-42E1-8A5F-838B7221C55A}"/>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The energy measure and its limit</a:t>
            </a:r>
          </a:p>
        </p:txBody>
      </p:sp>
      <p:sp>
        <p:nvSpPr>
          <p:cNvPr id="3" name="">
            <a:extLst xmlns:a="http://schemas.openxmlformats.org/drawingml/2006/main">
              <a:ext uri="{FF2B5EF4-FFF2-40B4-BE49-F238E27FC236}">
                <a16:creationId xmlns:a16="http://schemas.microsoft.com/office/drawing/2014/main" id="{158553BE-985E-4BBA-95C4-CB214616C54B}"/>
              </a:ext>
            </a:extLst>
          </p:cNvPr>
          <p:cNvSpPr>
            <a:spLocks xmlns:a="http://schemas.openxmlformats.org/drawingml/2006/main" noGrp="1"/>
          </p:cNvSpPr>
          <p:nvPr/>
        </p:nvSpPr>
        <p:spPr>
          <a:xfrm xmlns:a="http://schemas.openxmlformats.org/drawingml/2006/main">
            <a:off x="742950" y="188595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Snapshot proxy = sum(endpoint shed MW x window minutes / 60).</a:t>
            </a:r>
          </a:p>
        </p:txBody>
      </p:sp>
      <p:sp>
        <p:nvSpPr>
          <p:cNvPr id="4" name="">
            <a:extLst xmlns:a="http://schemas.openxmlformats.org/drawingml/2006/main">
              <a:ext uri="{FF2B5EF4-FFF2-40B4-BE49-F238E27FC236}">
                <a16:creationId xmlns:a16="http://schemas.microsoft.com/office/drawing/2014/main" id="{C304EABF-579C-466C-B605-CD52D6C756AF}"/>
              </a:ext>
            </a:extLst>
          </p:cNvPr>
          <p:cNvSpPr>
            <a:spLocks xmlns:a="http://schemas.openxmlformats.org/drawingml/2006/main" noGrp="1"/>
          </p:cNvSpPr>
          <p:nvPr/>
        </p:nvSpPr>
        <p:spPr>
          <a:xfrm xmlns:a="http://schemas.openxmlformats.org/drawingml/2006/main">
            <a:off x="742950" y="31718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The solver uses each window’s ramp allowance, then holds the endpoint loss for accounting.</a:t>
            </a:r>
          </a:p>
        </p:txBody>
      </p:sp>
      <p:sp>
        <p:nvSpPr>
          <p:cNvPr id="5" name="">
            <a:extLst xmlns:a="http://schemas.openxmlformats.org/drawingml/2006/main">
              <a:ext uri="{FF2B5EF4-FFF2-40B4-BE49-F238E27FC236}">
                <a16:creationId xmlns:a16="http://schemas.microsoft.com/office/drawing/2014/main" id="{7E15F9A6-8AB3-4A33-ADA4-68D9EFB39948}"/>
              </a:ext>
            </a:extLst>
          </p:cNvPr>
          <p:cNvSpPr>
            <a:spLocks xmlns:a="http://schemas.openxmlformats.org/drawingml/2006/main" noGrp="1"/>
          </p:cNvSpPr>
          <p:nvPr/>
        </p:nvSpPr>
        <p:spPr>
          <a:xfrm xmlns:a="http://schemas.openxmlformats.org/drawingml/2006/main">
            <a:off x="742950" y="44577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Continuous generation and service paths inside each window remain unmodeled.</a:t>
            </a:r>
          </a:p>
        </p:txBody>
      </p:sp>
      <p:sp>
        <p:nvSpPr>
          <p:cNvPr id="6" name="">
            <a:extLst xmlns:a="http://schemas.openxmlformats.org/drawingml/2006/main">
              <a:ext uri="{FF2B5EF4-FFF2-40B4-BE49-F238E27FC236}">
                <a16:creationId xmlns:a16="http://schemas.microsoft.com/office/drawing/2014/main" id="{804F4D22-C314-4461-A4C2-3A032D06F2B6}"/>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16</a:t>
            </a:r>
          </a:p>
        </p:txBody>
      </p:sp>
    </p:spTree>
    <p:extLst>
      <p:ext uri="{BB962C8B-B14F-4D97-AF65-F5344CB8AC3E}">
        <p14:creationId xmlns:p14="http://schemas.microsoft.com/office/powerpoint/2010/main" val="526099637"/>
      </p:ext>
    </p:extLst>
  </p:cSld>
</p:sld>
</file>

<file path=ppt/slides/slide1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A44A2C3-1CD8-4ACF-9B58-F5AD114C70FD}"/>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Extension 3: critical-service response</a:t>
            </a:r>
          </a:p>
        </p:txBody>
      </p:sp>
      <p:graphicFrame>
        <p:nvGraphicFramePr>
          <p:cNvPr id="3" name="">
            <a:extLst xmlns:a="http://schemas.openxmlformats.org/drawingml/2006/main">
              <a:ext uri="{FF2B5EF4-FFF2-40B4-BE49-F238E27FC236}">
                <a16:creationId xmlns:a16="http://schemas.microsoft.com/office/drawing/2014/main" id="{6C1FE410-375D-472E-8B99-9B770E5321B0}"/>
              </a:ext>
            </a:extLst>
          </p:cNvPr>
          <p:cNvGraphicFramePr/>
          <p:nvPr/>
        </p:nvGraphicFramePr>
        <p:xfrm>
          <a:off xmlns:a="http://schemas.openxmlformats.org/drawingml/2006/main" x="685800" y="1762125"/>
          <a:ext xmlns:a="http://schemas.openxmlformats.org/drawingml/2006/main" cx="10820400" cy="3524250"/>
        </p:xfrm>
        <a:graphic xmlns:a="http://schemas.openxmlformats.org/drawingml/2006/main">
          <a:graphicData uri="http://schemas.openxmlformats.org/drawingml/2006/table">
            <a:tbl>
              <a:tblPr/>
              <a:tblGrid>
                <a:gridCol w="3143250"/>
                <a:gridCol w="7677150"/>
              </a:tblGrid>
              <a:tr h="704850">
                <a:tc>
                  <a:txBody>
                    <a:bodyPr lIns="114300" tIns="76200" rIns="114300" bIns="76200"/>
                    <a:lstStyle/>
                    <a:p>
                      <a:r>
                        <a:rPr sz="1650" b="1">
                          <a:solidFill>
                            <a:srgbClr val="183544"/>
                          </a:solidFill>
                        </a:rPr>
                        <a:t>Policy</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What the operator maximizes</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704850">
                <a:tc>
                  <a:txBody>
                    <a:bodyPr lIns="114300" tIns="76200" rIns="114300" bIns="76200"/>
                    <a:lstStyle/>
                    <a:p>
                      <a:r>
                        <a:rPr sz="1650" b="0">
                          <a:solidFill>
                            <a:srgbClr val="183544"/>
                          </a:solidFill>
                        </a:rPr>
                        <a:t>Total-tight</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Total MW, using matched 1e-8 MIP precision</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Weight 2</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Critical MW counts twice other MW</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Weight 10</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Critical MW counts ten times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Critical-first</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Critical MW first, then total MW within a recorded floor tolerance</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6C02D69A-388A-41BE-B0A4-F4BFFE4491A7}"/>
              </a:ext>
            </a:extLst>
          </p:cNvPr>
          <p:cNvSpPr>
            <a:spLocks xmlns:a="http://schemas.openxmlformats.org/drawingml/2006/main" noGrp="1"/>
          </p:cNvSpPr>
          <p:nvPr/>
        </p:nvSpPr>
        <p:spPr>
          <a:xfrm xmlns:a="http://schemas.openxmlformats.org/drawingml/2006/main">
            <a:off x="723900" y="61912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86D75"/>
                </a:solidFill>
              </a:defRPr>
            </a:defPPr>
            <a:lvl1pPr>
              <a:defRPr sz="1425" b="0">
                <a:solidFill>
                  <a:srgbClr val="586D75"/>
                </a:solidFill>
              </a:defRPr>
            </a:lvl1pPr>
            <a:lvl2pPr>
              <a:defRPr sz="1425" b="0">
                <a:solidFill>
                  <a:srgbClr val="586D75"/>
                </a:solidFill>
              </a:defRPr>
            </a:lvl2pPr>
            <a:lvl3pPr>
              <a:defRPr sz="1425" b="0">
                <a:solidFill>
                  <a:srgbClr val="586D75"/>
                </a:solidFill>
              </a:defRPr>
            </a:lvl3pPr>
            <a:lvl4pPr>
              <a:defRPr sz="1425" b="0">
                <a:solidFill>
                  <a:srgbClr val="586D75"/>
                </a:solidFill>
              </a:defRPr>
            </a:lvl4pPr>
            <a:lvl5pPr>
              <a:defRPr sz="1425" b="0">
                <a:solidFill>
                  <a:srgbClr val="586D75"/>
                </a:solidFill>
              </a:defRPr>
            </a:lvl5pPr>
            <a:lvl6pPr>
              <a:defRPr sz="1425" b="0">
                <a:solidFill>
                  <a:srgbClr val="586D75"/>
                </a:solidFill>
              </a:defRPr>
            </a:lvl6pPr>
            <a:lvl7pPr>
              <a:defRPr sz="1425" b="0">
                <a:solidFill>
                  <a:srgbClr val="586D75"/>
                </a:solidFill>
              </a:defRPr>
            </a:lvl7pPr>
            <a:lvl8pPr>
              <a:defRPr sz="1425" b="0">
                <a:solidFill>
                  <a:srgbClr val="586D75"/>
                </a:solidFill>
              </a:defRPr>
            </a:lvl8pPr>
            <a:lvl9pPr>
              <a:defRPr sz="1425" b="0">
                <a:solidFill>
                  <a:srgbClr val="586D75"/>
                </a:solidFill>
              </a:defRPr>
            </a:lvl9pPr>
          </a:lstStyle>
          <a:p xmlns:a="http://schemas.openxmlformats.org/drawingml/2006/main">
            <a:pPr>
              <a:defRPr sz="1425" b="0">
                <a:solidFill>
                  <a:srgbClr val="586D75"/>
                </a:solidFill>
              </a:defRPr>
            </a:pPr>
            <a:r>
              <a:rPr sz="1425" b="0">
                <a:solidFill>
                  <a:srgbClr val="586D75"/>
                </a:solidFill>
              </a:rPr>
              <a:t>Synthetic bus groups; identical initial dispatch and attack cohort</a:t>
            </a:r>
          </a:p>
        </p:txBody>
      </p:sp>
      <p:sp>
        <p:nvSpPr>
          <p:cNvPr id="5" name="">
            <a:extLst xmlns:a="http://schemas.openxmlformats.org/drawingml/2006/main">
              <a:ext uri="{FF2B5EF4-FFF2-40B4-BE49-F238E27FC236}">
                <a16:creationId xmlns:a16="http://schemas.microsoft.com/office/drawing/2014/main" id="{848C194B-C880-4E67-9062-8EF73B9DA1C4}"/>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17</a:t>
            </a:r>
          </a:p>
        </p:txBody>
      </p:sp>
    </p:spTree>
    <p:extLst>
      <p:ext uri="{BB962C8B-B14F-4D97-AF65-F5344CB8AC3E}">
        <p14:creationId xmlns:p14="http://schemas.microsoft.com/office/powerpoint/2010/main" val="539160270"/>
      </p:ext>
    </p:extLst>
  </p:cSld>
</p:sld>
</file>

<file path=ppt/slides/slide1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413DBC7-E331-49D3-93AC-1E144DDA76DA}"/>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Critical service at the nominal setting</a:t>
            </a:r>
          </a:p>
        </p:txBody>
      </p:sp>
      <p:graphicFrame>
        <p:nvGraphicFramePr>
          <p:cNvPr id="3" name="Chart">
            <a:extLst xmlns:a="http://schemas.openxmlformats.org/drawingml/2006/main">
              <a:ext uri="{FF2B5EF4-FFF2-40B4-BE49-F238E27FC236}">
                <a16:creationId xmlns:a16="http://schemas.microsoft.com/office/drawing/2014/main" id="{729AB596-6C92-47F2-8C3A-5F384096B2F3}"/>
              </a:ext>
            </a:extLst>
          </p:cNvPr>
          <p:cNvGraphicFramePr/>
          <p:nvPr/>
        </p:nvGraphicFramePr>
        <p:xfrm>
          <a:off xmlns:a="http://schemas.openxmlformats.org/drawingml/2006/main" x="685800" y="1714500"/>
          <a:ext xmlns:a="http://schemas.openxmlformats.org/drawingml/2006/main" cx="10820400" cy="4191000"/>
        </p:xfrm>
        <a:graphic xmlns:a="http://schemas.openxmlformats.org/drawingml/2006/main">
          <a:graphicData uri="http://schemas.openxmlformats.org/drawingml/2006/chart">
            <c:chart xmlns:r="http://schemas.openxmlformats.org/officeDocument/2006/relationships" xmlns:c="http://schemas.openxmlformats.org/drawingml/2006/chart" r:id="R989a97ce14bf4df7"/>
          </a:graphicData>
        </a:graphic>
      </p:graphicFrame>
      <p:sp>
        <p:nvSpPr>
          <p:cNvPr id="4" name="">
            <a:extLst xmlns:a="http://schemas.openxmlformats.org/drawingml/2006/main">
              <a:ext uri="{FF2B5EF4-FFF2-40B4-BE49-F238E27FC236}">
                <a16:creationId xmlns:a16="http://schemas.microsoft.com/office/drawing/2014/main" id="{FFC4ED20-CE57-481E-91B9-06BBC12695C5}"/>
              </a:ext>
            </a:extLst>
          </p:cNvPr>
          <p:cNvSpPr>
            <a:spLocks xmlns:a="http://schemas.openxmlformats.org/drawingml/2006/main" noGrp="1"/>
          </p:cNvSpPr>
          <p:nvPr/>
        </p:nvSpPr>
        <p:spPr>
          <a:xfrm xmlns:a="http://schemas.openxmlformats.org/drawingml/2006/main">
            <a:off x="723900" y="61912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86D75"/>
                </a:solidFill>
              </a:defRPr>
            </a:defPPr>
            <a:lvl1pPr>
              <a:defRPr sz="1425" b="0">
                <a:solidFill>
                  <a:srgbClr val="586D75"/>
                </a:solidFill>
              </a:defRPr>
            </a:lvl1pPr>
            <a:lvl2pPr>
              <a:defRPr sz="1425" b="0">
                <a:solidFill>
                  <a:srgbClr val="586D75"/>
                </a:solidFill>
              </a:defRPr>
            </a:lvl2pPr>
            <a:lvl3pPr>
              <a:defRPr sz="1425" b="0">
                <a:solidFill>
                  <a:srgbClr val="586D75"/>
                </a:solidFill>
              </a:defRPr>
            </a:lvl3pPr>
            <a:lvl4pPr>
              <a:defRPr sz="1425" b="0">
                <a:solidFill>
                  <a:srgbClr val="586D75"/>
                </a:solidFill>
              </a:defRPr>
            </a:lvl4pPr>
            <a:lvl5pPr>
              <a:defRPr sz="1425" b="0">
                <a:solidFill>
                  <a:srgbClr val="586D75"/>
                </a:solidFill>
              </a:defRPr>
            </a:lvl5pPr>
            <a:lvl6pPr>
              <a:defRPr sz="1425" b="0">
                <a:solidFill>
                  <a:srgbClr val="586D75"/>
                </a:solidFill>
              </a:defRPr>
            </a:lvl6pPr>
            <a:lvl7pPr>
              <a:defRPr sz="1425" b="0">
                <a:solidFill>
                  <a:srgbClr val="586D75"/>
                </a:solidFill>
              </a:defRPr>
            </a:lvl7pPr>
            <a:lvl8pPr>
              <a:defRPr sz="1425" b="0">
                <a:solidFill>
                  <a:srgbClr val="586D75"/>
                </a:solidFill>
              </a:defRPr>
            </a:lvl8pPr>
            <a:lvl9pPr>
              <a:defRPr sz="1425" b="0">
                <a:solidFill>
                  <a:srgbClr val="586D75"/>
                </a:solidFill>
              </a:defRPr>
            </a:lvl9pPr>
          </a:lstStyle>
          <a:p xmlns:a="http://schemas.openxmlformats.org/drawingml/2006/main">
            <a:pPr>
              <a:defRPr sz="1425" b="0">
                <a:solidFill>
                  <a:srgbClr val="586D75"/>
                </a:solidFill>
              </a:defRPr>
            </a:pPr>
            <a:r>
              <a:rPr sz="1425" b="0">
                <a:solidFill>
                  <a:srgbClr val="586D75"/>
                </a:solidFill>
              </a:rPr>
              <a:t>25% of positive-demand buses; ramp 0.1</a:t>
            </a:r>
          </a:p>
        </p:txBody>
      </p:sp>
      <p:sp>
        <p:nvSpPr>
          <p:cNvPr id="5" name="">
            <a:extLst xmlns:a="http://schemas.openxmlformats.org/drawingml/2006/main">
              <a:ext uri="{FF2B5EF4-FFF2-40B4-BE49-F238E27FC236}">
                <a16:creationId xmlns:a16="http://schemas.microsoft.com/office/drawing/2014/main" id="{EEA8C210-1530-4FB0-80EA-1141579E58B9}"/>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18</a:t>
            </a:r>
          </a:p>
        </p:txBody>
      </p:sp>
    </p:spTree>
    <p:extLst>
      <p:ext uri="{BB962C8B-B14F-4D97-AF65-F5344CB8AC3E}">
        <p14:creationId xmlns:p14="http://schemas.microsoft.com/office/powerpoint/2010/main" val="1508007372"/>
      </p:ext>
    </p:extLst>
  </p:cSld>
</p:sld>
</file>

<file path=ppt/slides/slide1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A582734-CE62-44F6-87EE-07BBF9EB3B33}"/>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Critical gains have costs and adverse cases</a:t>
            </a:r>
          </a:p>
        </p:txBody>
      </p:sp>
      <p:graphicFrame>
        <p:nvGraphicFramePr>
          <p:cNvPr id="3" name="">
            <a:extLst xmlns:a="http://schemas.openxmlformats.org/drawingml/2006/main">
              <a:ext uri="{FF2B5EF4-FFF2-40B4-BE49-F238E27FC236}">
                <a16:creationId xmlns:a16="http://schemas.microsoft.com/office/drawing/2014/main" id="{923FA80C-A582-42AC-BE73-4945BA4E52F9}"/>
              </a:ext>
            </a:extLst>
          </p:cNvPr>
          <p:cNvGraphicFramePr/>
          <p:nvPr/>
        </p:nvGraphicFramePr>
        <p:xfrm>
          <a:off xmlns:a="http://schemas.openxmlformats.org/drawingml/2006/main" x="685800" y="1762125"/>
          <a:ext xmlns:a="http://schemas.openxmlformats.org/drawingml/2006/main" cx="10820400" cy="2114550"/>
        </p:xfrm>
        <a:graphic xmlns:a="http://schemas.openxmlformats.org/drawingml/2006/main">
          <a:graphicData uri="http://schemas.openxmlformats.org/drawingml/2006/table">
            <a:tbl>
              <a:tblPr/>
              <a:tblGrid>
                <a:gridCol w="2333625"/>
                <a:gridCol w="4238625"/>
                <a:gridCol w="4248150"/>
              </a:tblGrid>
              <a:tr h="704850">
                <a:tc>
                  <a:txBody>
                    <a:bodyPr lIns="114300" tIns="76200" rIns="114300" bIns="76200"/>
                    <a:lstStyle/>
                    <a:p>
                      <a:r>
                        <a:rPr sz="1650" b="1">
                          <a:solidFill>
                            <a:srgbClr val="183544"/>
                          </a:solidFill>
                        </a:rPr>
                        <a:t>Selected case</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Critical gain MW</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Extra total loss MW</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704850">
                <a:tc>
                  <a:txBody>
                    <a:bodyPr lIns="114300" tIns="76200" rIns="114300" bIns="76200"/>
                    <a:lstStyle/>
                    <a:p>
                      <a:r>
                        <a:rPr sz="1650" b="0">
                          <a:solidFill>
                            <a:srgbClr val="183544"/>
                          </a:solidFill>
                        </a:rPr>
                        <a:t>Largest gain: case 39</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1,573.43</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120.64</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Largest harm: case 14</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-239.83</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322.69</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5376639B-BA77-4DED-AC6B-DA07AE6EB9DE}"/>
              </a:ext>
            </a:extLst>
          </p:cNvPr>
          <p:cNvSpPr>
            <a:spLocks xmlns:a="http://schemas.openxmlformats.org/drawingml/2006/main" noGrp="1"/>
          </p:cNvSpPr>
          <p:nvPr/>
        </p:nvSpPr>
        <p:spPr>
          <a:xfrm xmlns:a="http://schemas.openxmlformats.org/drawingml/2006/main">
            <a:off x="723900" y="41148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544"/>
                </a:solidFill>
              </a:defRPr>
            </a:defPPr>
            <a:lvl1pPr>
              <a:defRPr sz="1800" b="0">
                <a:solidFill>
                  <a:srgbClr val="183544"/>
                </a:solidFill>
              </a:defRPr>
            </a:lvl1pPr>
            <a:lvl2pPr>
              <a:defRPr sz="1800" b="0">
                <a:solidFill>
                  <a:srgbClr val="183544"/>
                </a:solidFill>
              </a:defRPr>
            </a:lvl2pPr>
            <a:lvl3pPr>
              <a:defRPr sz="1800" b="0">
                <a:solidFill>
                  <a:srgbClr val="183544"/>
                </a:solidFill>
              </a:defRPr>
            </a:lvl3pPr>
            <a:lvl4pPr>
              <a:defRPr sz="1800" b="0">
                <a:solidFill>
                  <a:srgbClr val="183544"/>
                </a:solidFill>
              </a:defRPr>
            </a:lvl4pPr>
            <a:lvl5pPr>
              <a:defRPr sz="1800" b="0">
                <a:solidFill>
                  <a:srgbClr val="183544"/>
                </a:solidFill>
              </a:defRPr>
            </a:lvl5pPr>
            <a:lvl6pPr>
              <a:defRPr sz="1800" b="0">
                <a:solidFill>
                  <a:srgbClr val="183544"/>
                </a:solidFill>
              </a:defRPr>
            </a:lvl6pPr>
            <a:lvl7pPr>
              <a:defRPr sz="1800" b="0">
                <a:solidFill>
                  <a:srgbClr val="183544"/>
                </a:solidFill>
              </a:defRPr>
            </a:lvl7pPr>
            <a:lvl8pPr>
              <a:defRPr sz="1800" b="0">
                <a:solidFill>
                  <a:srgbClr val="183544"/>
                </a:solidFill>
              </a:defRPr>
            </a:lvl8pPr>
            <a:lvl9pPr>
              <a:defRPr sz="1800" b="0">
                <a:solidFill>
                  <a:srgbClr val="183544"/>
                </a:solidFill>
              </a:defRPr>
            </a:lvl9pPr>
          </a:lstStyle>
          <a:p xmlns:a="http://schemas.openxmlformats.org/drawingml/2006/main">
            <a:pPr>
              <a:defRPr sz="1800" b="0">
                <a:solidFill>
                  <a:srgbClr val="183544"/>
                </a:solidFill>
              </a:defRPr>
            </a:pPr>
            <a:r>
              <a:rPr sz="1800" b="0">
                <a:solidFill>
                  <a:srgbClr val="183544"/>
                </a:solidFill>
              </a:rPr>
              <a:t>Comparisons use the total-tight baseline.</a:t>
            </a:r>
          </a:p>
        </p:txBody>
      </p:sp>
      <p:sp>
        <p:nvSpPr>
          <p:cNvPr id="5" name="">
            <a:extLst xmlns:a="http://schemas.openxmlformats.org/drawingml/2006/main">
              <a:ext uri="{FF2B5EF4-FFF2-40B4-BE49-F238E27FC236}">
                <a16:creationId xmlns:a16="http://schemas.microsoft.com/office/drawing/2014/main" id="{C3546E85-F64B-415F-B5D1-E5FC40EDBC5E}"/>
              </a:ext>
            </a:extLst>
          </p:cNvPr>
          <p:cNvSpPr>
            <a:spLocks xmlns:a="http://schemas.openxmlformats.org/drawingml/2006/main" noGrp="1"/>
          </p:cNvSpPr>
          <p:nvPr/>
        </p:nvSpPr>
        <p:spPr>
          <a:xfrm xmlns:a="http://schemas.openxmlformats.org/drawingml/2006/main">
            <a:off x="723900" y="4514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544"/>
                </a:solidFill>
              </a:defRPr>
            </a:defPPr>
            <a:lvl1pPr>
              <a:defRPr sz="1800" b="0">
                <a:solidFill>
                  <a:srgbClr val="183544"/>
                </a:solidFill>
              </a:defRPr>
            </a:lvl1pPr>
            <a:lvl2pPr>
              <a:defRPr sz="1800" b="0">
                <a:solidFill>
                  <a:srgbClr val="183544"/>
                </a:solidFill>
              </a:defRPr>
            </a:lvl2pPr>
            <a:lvl3pPr>
              <a:defRPr sz="1800" b="0">
                <a:solidFill>
                  <a:srgbClr val="183544"/>
                </a:solidFill>
              </a:defRPr>
            </a:lvl3pPr>
            <a:lvl4pPr>
              <a:defRPr sz="1800" b="0">
                <a:solidFill>
                  <a:srgbClr val="183544"/>
                </a:solidFill>
              </a:defRPr>
            </a:lvl4pPr>
            <a:lvl5pPr>
              <a:defRPr sz="1800" b="0">
                <a:solidFill>
                  <a:srgbClr val="183544"/>
                </a:solidFill>
              </a:defRPr>
            </a:lvl5pPr>
            <a:lvl6pPr>
              <a:defRPr sz="1800" b="0">
                <a:solidFill>
                  <a:srgbClr val="183544"/>
                </a:solidFill>
              </a:defRPr>
            </a:lvl6pPr>
            <a:lvl7pPr>
              <a:defRPr sz="1800" b="0">
                <a:solidFill>
                  <a:srgbClr val="183544"/>
                </a:solidFill>
              </a:defRPr>
            </a:lvl7pPr>
            <a:lvl8pPr>
              <a:defRPr sz="1800" b="0">
                <a:solidFill>
                  <a:srgbClr val="183544"/>
                </a:solidFill>
              </a:defRPr>
            </a:lvl8pPr>
            <a:lvl9pPr>
              <a:defRPr sz="1800" b="0">
                <a:solidFill>
                  <a:srgbClr val="183544"/>
                </a:solidFill>
              </a:defRPr>
            </a:lvl9pPr>
          </a:lstStyle>
          <a:p xmlns:a="http://schemas.openxmlformats.org/drawingml/2006/main">
            <a:pPr>
              <a:defRPr sz="1800" b="0">
                <a:solidFill>
                  <a:srgbClr val="183544"/>
                </a:solidFill>
              </a:defRPr>
            </a:pPr>
            <a:r>
              <a:rPr sz="1800" b="0">
                <a:solidFill>
                  <a:srgbClr val="183544"/>
                </a:solidFill>
              </a:rPr>
              <a:t>These examples are deliberately selected extremes.</a:t>
            </a:r>
          </a:p>
        </p:txBody>
      </p:sp>
      <p:sp>
        <p:nvSpPr>
          <p:cNvPr id="6" name="">
            <a:extLst xmlns:a="http://schemas.openxmlformats.org/drawingml/2006/main">
              <a:ext uri="{FF2B5EF4-FFF2-40B4-BE49-F238E27FC236}">
                <a16:creationId xmlns:a16="http://schemas.microsoft.com/office/drawing/2014/main" id="{1D72A238-42DF-41A3-8D3B-B0FA841B623C}"/>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19</a:t>
            </a:r>
          </a:p>
        </p:txBody>
      </p:sp>
    </p:spTree>
    <p:extLst>
      <p:ext uri="{BB962C8B-B14F-4D97-AF65-F5344CB8AC3E}">
        <p14:creationId xmlns:p14="http://schemas.microsoft.com/office/powerpoint/2010/main" val="147668194"/>
      </p:ext>
    </p:extLst>
  </p:cSld>
</p:sld>
</file>

<file path=ppt/slides/slide2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CE34E25-72B3-436C-A7A5-DABB8CF2F5F5}"/>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Priority outcomes across paired sequences</a:t>
            </a:r>
          </a:p>
        </p:txBody>
      </p:sp>
      <p:graphicFrame>
        <p:nvGraphicFramePr>
          <p:cNvPr id="3" name="">
            <a:extLst xmlns:a="http://schemas.openxmlformats.org/drawingml/2006/main">
              <a:ext uri="{FF2B5EF4-FFF2-40B4-BE49-F238E27FC236}">
                <a16:creationId xmlns:a16="http://schemas.microsoft.com/office/drawing/2014/main" id="{1517E426-3107-4966-BF4B-145BBAF8E706}"/>
              </a:ext>
            </a:extLst>
          </p:cNvPr>
          <p:cNvGraphicFramePr/>
          <p:nvPr/>
        </p:nvGraphicFramePr>
        <p:xfrm>
          <a:off xmlns:a="http://schemas.openxmlformats.org/drawingml/2006/main" x="685800" y="1762125"/>
          <a:ext xmlns:a="http://schemas.openxmlformats.org/drawingml/2006/main" cx="10820400" cy="2819400"/>
        </p:xfrm>
        <a:graphic xmlns:a="http://schemas.openxmlformats.org/drawingml/2006/main">
          <a:graphicData uri="http://schemas.openxmlformats.org/drawingml/2006/table">
            <a:tbl>
              <a:tblPr/>
              <a:tblGrid>
                <a:gridCol w="3143250"/>
                <a:gridCol w="2552700"/>
                <a:gridCol w="2552700"/>
                <a:gridCol w="2571750"/>
              </a:tblGrid>
              <a:tr h="704850">
                <a:tc>
                  <a:txBody>
                    <a:bodyPr lIns="114300" tIns="76200" rIns="114300" bIns="76200"/>
                    <a:lstStyle/>
                    <a:p>
                      <a:r>
                        <a:rPr sz="1650" b="1">
                          <a:solidFill>
                            <a:srgbClr val="183544"/>
                          </a:solidFill>
                        </a:rPr>
                        <a:t>Policy</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Improves critical</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Worsens critical</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Extra total loss</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704850">
                <a:tc>
                  <a:txBody>
                    <a:bodyPr lIns="114300" tIns="76200" rIns="114300" bIns="76200"/>
                    <a:lstStyle/>
                    <a:p>
                      <a:r>
                        <a:rPr sz="1650" b="0">
                          <a:solidFill>
                            <a:srgbClr val="183544"/>
                          </a:solidFill>
                        </a:rPr>
                        <a:t>critical-first</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2916</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75</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1835</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weight-10</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2929</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56</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1789</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weight-2</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2417</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43</a:t>
                      </a:r>
                    </a:p>
                  </a:txBody>
                  <a:tcPr marL="91440" marR="91440" marT="45720" marB="45720" anchor="ctr">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1205</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2B97221B-E7B1-4239-99D1-F6BAD88598AE}"/>
              </a:ext>
            </a:extLst>
          </p:cNvPr>
          <p:cNvSpPr>
            <a:spLocks xmlns:a="http://schemas.openxmlformats.org/drawingml/2006/main" noGrp="1"/>
          </p:cNvSpPr>
          <p:nvPr/>
        </p:nvSpPr>
        <p:spPr>
          <a:xfrm xmlns:a="http://schemas.openxmlformats.org/drawingml/2006/main">
            <a:off x="723900" y="61912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86D75"/>
                </a:solidFill>
              </a:defRPr>
            </a:defPPr>
            <a:lvl1pPr>
              <a:defRPr sz="1425" b="0">
                <a:solidFill>
                  <a:srgbClr val="586D75"/>
                </a:solidFill>
              </a:defRPr>
            </a:lvl1pPr>
            <a:lvl2pPr>
              <a:defRPr sz="1425" b="0">
                <a:solidFill>
                  <a:srgbClr val="586D75"/>
                </a:solidFill>
              </a:defRPr>
            </a:lvl2pPr>
            <a:lvl3pPr>
              <a:defRPr sz="1425" b="0">
                <a:solidFill>
                  <a:srgbClr val="586D75"/>
                </a:solidFill>
              </a:defRPr>
            </a:lvl3pPr>
            <a:lvl4pPr>
              <a:defRPr sz="1425" b="0">
                <a:solidFill>
                  <a:srgbClr val="586D75"/>
                </a:solidFill>
              </a:defRPr>
            </a:lvl4pPr>
            <a:lvl5pPr>
              <a:defRPr sz="1425" b="0">
                <a:solidFill>
                  <a:srgbClr val="586D75"/>
                </a:solidFill>
              </a:defRPr>
            </a:lvl5pPr>
            <a:lvl6pPr>
              <a:defRPr sz="1425" b="0">
                <a:solidFill>
                  <a:srgbClr val="586D75"/>
                </a:solidFill>
              </a:defRPr>
            </a:lvl6pPr>
            <a:lvl7pPr>
              <a:defRPr sz="1425" b="0">
                <a:solidFill>
                  <a:srgbClr val="586D75"/>
                </a:solidFill>
              </a:defRPr>
            </a:lvl7pPr>
            <a:lvl8pPr>
              <a:defRPr sz="1425" b="0">
                <a:solidFill>
                  <a:srgbClr val="586D75"/>
                </a:solidFill>
              </a:defRPr>
            </a:lvl8pPr>
            <a:lvl9pPr>
              <a:defRPr sz="1425" b="0">
                <a:solidFill>
                  <a:srgbClr val="586D75"/>
                </a:solidFill>
              </a:defRPr>
            </a:lvl9pPr>
          </a:lstStyle>
          <a:p xmlns:a="http://schemas.openxmlformats.org/drawingml/2006/main">
            <a:pPr>
              <a:defRPr sz="1425" b="0">
                <a:solidFill>
                  <a:srgbClr val="586D75"/>
                </a:solidFill>
              </a:defRPr>
            </a:pPr>
            <a:r>
              <a:rPr sz="1425" b="0">
                <a:solidFill>
                  <a:srgbClr val="586D75"/>
                </a:solidFill>
              </a:rPr>
              <a:t>Counts at 0.001 MW threshold; repeated deterministic pairs</a:t>
            </a:r>
          </a:p>
        </p:txBody>
      </p:sp>
      <p:sp>
        <p:nvSpPr>
          <p:cNvPr id="5" name="">
            <a:extLst xmlns:a="http://schemas.openxmlformats.org/drawingml/2006/main">
              <a:ext uri="{FF2B5EF4-FFF2-40B4-BE49-F238E27FC236}">
                <a16:creationId xmlns:a16="http://schemas.microsoft.com/office/drawing/2014/main" id="{ADACFFCE-8DA8-4089-A821-7EEB83B8FE76}"/>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20</a:t>
            </a:r>
          </a:p>
        </p:txBody>
      </p:sp>
    </p:spTree>
    <p:extLst>
      <p:ext uri="{BB962C8B-B14F-4D97-AF65-F5344CB8AC3E}">
        <p14:creationId xmlns:p14="http://schemas.microsoft.com/office/powerpoint/2010/main" val="508959646"/>
      </p:ext>
    </p:extLst>
  </p:cSld>
</p:sld>
</file>

<file path=ppt/slides/slide2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79B5C37-316F-458E-B544-7E9969EE659D}"/>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Correctness and claim boundaries</a:t>
            </a:r>
          </a:p>
        </p:txBody>
      </p:sp>
      <p:sp>
        <p:nvSpPr>
          <p:cNvPr id="3" name="">
            <a:extLst xmlns:a="http://schemas.openxmlformats.org/drawingml/2006/main">
              <a:ext uri="{FF2B5EF4-FFF2-40B4-BE49-F238E27FC236}">
                <a16:creationId xmlns:a16="http://schemas.microsoft.com/office/drawing/2014/main" id="{EDF323EC-B8AD-4806-8642-7D2892742F0E}"/>
              </a:ext>
            </a:extLst>
          </p:cNvPr>
          <p:cNvSpPr>
            <a:spLocks xmlns:a="http://schemas.openxmlformats.org/drawingml/2006/main" noGrp="1"/>
          </p:cNvSpPr>
          <p:nvPr/>
        </p:nvSpPr>
        <p:spPr>
          <a:xfrm xmlns:a="http://schemas.openxmlformats.org/drawingml/2006/main">
            <a:off x="742950" y="18859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16 regression tests pass; 26 upstream state probes match exactly.</a:t>
            </a:r>
          </a:p>
        </p:txBody>
      </p:sp>
      <p:sp>
        <p:nvSpPr>
          <p:cNvPr id="4" name="">
            <a:extLst xmlns:a="http://schemas.openxmlformats.org/drawingml/2006/main">
              <a:ext uri="{FF2B5EF4-FFF2-40B4-BE49-F238E27FC236}">
                <a16:creationId xmlns:a16="http://schemas.microsoft.com/office/drawing/2014/main" id="{1D6C72EC-F229-441B-A63D-68C5F90A22CD}"/>
              </a:ext>
            </a:extLst>
          </p:cNvPr>
          <p:cNvSpPr>
            <a:spLocks xmlns:a="http://schemas.openxmlformats.org/drawingml/2006/main" noGrp="1"/>
          </p:cNvSpPr>
          <p:nvPr/>
        </p:nvSpPr>
        <p:spPr>
          <a:xfrm xmlns:a="http://schemas.openxmlformats.org/drawingml/2006/main">
            <a:off x="742950" y="29337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Fresh exhaustive post-protection replays match saved table maxima.</a:t>
            </a:r>
          </a:p>
        </p:txBody>
      </p:sp>
      <p:sp>
        <p:nvSpPr>
          <p:cNvPr id="5" name="">
            <a:extLst xmlns:a="http://schemas.openxmlformats.org/drawingml/2006/main">
              <a:ext uri="{FF2B5EF4-FFF2-40B4-BE49-F238E27FC236}">
                <a16:creationId xmlns:a16="http://schemas.microsoft.com/office/drawing/2014/main" id="{88DFC1C8-4250-4458-B2D0-4979BAC164AC}"/>
              </a:ext>
            </a:extLst>
          </p:cNvPr>
          <p:cNvSpPr>
            <a:spLocks xmlns:a="http://schemas.openxmlformats.org/drawingml/2006/main" noGrp="1"/>
          </p:cNvSpPr>
          <p:nvPr/>
        </p:nvSpPr>
        <p:spPr>
          <a:xfrm xmlns:a="http://schemas.openxmlformats.org/drawingml/2006/main">
            <a:off x="742950" y="39814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All policies share the same paired attacks in each configuration.</a:t>
            </a:r>
          </a:p>
        </p:txBody>
      </p:sp>
      <p:sp>
        <p:nvSpPr>
          <p:cNvPr id="6" name="">
            <a:extLst xmlns:a="http://schemas.openxmlformats.org/drawingml/2006/main">
              <a:ext uri="{FF2B5EF4-FFF2-40B4-BE49-F238E27FC236}">
                <a16:creationId xmlns:a16="http://schemas.microsoft.com/office/drawing/2014/main" id="{41EB44E2-8046-46B4-AB83-6B9CF80E6628}"/>
              </a:ext>
            </a:extLst>
          </p:cNvPr>
          <p:cNvSpPr>
            <a:spLocks xmlns:a="http://schemas.openxmlformats.org/drawingml/2006/main" noGrp="1"/>
          </p:cNvSpPr>
          <p:nvPr/>
        </p:nvSpPr>
        <p:spPr>
          <a:xfrm xmlns:a="http://schemas.openxmlformats.org/drawingml/2006/main">
            <a:off x="742950" y="5029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Small cases are exhaustive. Larger critical/timing studies report worst found.</a:t>
            </a:r>
          </a:p>
        </p:txBody>
      </p:sp>
      <p:sp>
        <p:nvSpPr>
          <p:cNvPr id="7" name="">
            <a:extLst xmlns:a="http://schemas.openxmlformats.org/drawingml/2006/main">
              <a:ext uri="{FF2B5EF4-FFF2-40B4-BE49-F238E27FC236}">
                <a16:creationId xmlns:a16="http://schemas.microsoft.com/office/drawing/2014/main" id="{2AD6D1F0-6562-4D0F-B274-14C3E09C4B49}"/>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21</a:t>
            </a:r>
          </a:p>
        </p:txBody>
      </p:sp>
    </p:spTree>
    <p:extLst>
      <p:ext uri="{BB962C8B-B14F-4D97-AF65-F5344CB8AC3E}">
        <p14:creationId xmlns:p14="http://schemas.microsoft.com/office/powerpoint/2010/main" val="1893188555"/>
      </p:ext>
    </p:extLst>
  </p:cSld>
</p:sld>
</file>

<file path=ppt/slides/slide2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E1D8BE4-686F-40E6-8850-A122FA31CBE2}"/>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What the results establish</a:t>
            </a:r>
          </a:p>
        </p:txBody>
      </p:sp>
      <p:graphicFrame>
        <p:nvGraphicFramePr>
          <p:cNvPr id="3" name="">
            <a:extLst xmlns:a="http://schemas.openxmlformats.org/drawingml/2006/main">
              <a:ext uri="{FF2B5EF4-FFF2-40B4-BE49-F238E27FC236}">
                <a16:creationId xmlns:a16="http://schemas.microsoft.com/office/drawing/2014/main" id="{D3D94176-4BBB-4D05-86CC-ED24948677D9}"/>
              </a:ext>
            </a:extLst>
          </p:cNvPr>
          <p:cNvGraphicFramePr/>
          <p:nvPr/>
        </p:nvGraphicFramePr>
        <p:xfrm>
          <a:off xmlns:a="http://schemas.openxmlformats.org/drawingml/2006/main" x="685800" y="1762125"/>
          <a:ext xmlns:a="http://schemas.openxmlformats.org/drawingml/2006/main" cx="10820400" cy="2819400"/>
        </p:xfrm>
        <a:graphic xmlns:a="http://schemas.openxmlformats.org/drawingml/2006/main">
          <a:graphicData uri="http://schemas.openxmlformats.org/drawingml/2006/table">
            <a:tbl>
              <a:tblPr/>
              <a:tblGrid>
                <a:gridCol w="3143250"/>
                <a:gridCol w="7677150"/>
              </a:tblGrid>
              <a:tr h="704850">
                <a:tc>
                  <a:txBody>
                    <a:bodyPr lIns="114300" tIns="76200" rIns="114300" bIns="76200"/>
                    <a:lstStyle/>
                    <a:p>
                      <a:r>
                        <a:rPr sz="1650" b="1">
                          <a:solidFill>
                            <a:srgbClr val="183544"/>
                          </a:solidFill>
                        </a:rPr>
                        <a:t>Extension</a:t>
                      </a:r>
                    </a:p>
                  </a:txBody>
                  <a:tcPr marL="91440" marR="91440" marT="45720" marB="45720" anchor="ctr">
                    <a:lnL w="6668">
                      <a:solidFill>
                        <a:srgbClr val="CED9DA"/>
                      </a:solidFill>
                      <a:prstDash val="solid"/>
                    </a:lnL>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c>
                  <a:txBody>
                    <a:bodyPr lIns="114300" tIns="76200" rIns="114300" bIns="76200"/>
                    <a:lstStyle/>
                    <a:p>
                      <a:r>
                        <a:rPr sz="1650" b="1">
                          <a:solidFill>
                            <a:srgbClr val="183544"/>
                          </a:solidFill>
                        </a:rPr>
                        <a:t>Conclusion</a:t>
                      </a:r>
                    </a:p>
                  </a:txBody>
                  <a:tcPr marL="91440" marR="91440" marT="45720" marB="45720" anchor="ctr">
                    <a:lnR w="6668">
                      <a:solidFill>
                        <a:srgbClr val="CED9DA"/>
                      </a:solidFill>
                      <a:prstDash val="solid"/>
                    </a:lnR>
                    <a:lnT w="6668">
                      <a:solidFill>
                        <a:srgbClr val="CED9DA"/>
                      </a:solidFill>
                      <a:prstDash val="solid"/>
                    </a:lnT>
                    <a:lnB w="6668">
                      <a:solidFill>
                        <a:srgbClr val="CED9DA"/>
                      </a:solidFill>
                      <a:prstDash val="solid"/>
                    </a:lnB>
                    <a:solidFill>
                      <a:srgbClr val="DCE8E8"/>
                    </a:solidFill>
                  </a:tcPr>
                </a:tc>
              </a:tr>
              <a:tr h="704850">
                <a:tc>
                  <a:txBody>
                    <a:bodyPr lIns="114300" tIns="76200" rIns="114300" bIns="76200"/>
                    <a:lstStyle/>
                    <a:p>
                      <a:r>
                        <a:rPr sz="1650" b="0">
                          <a:solidFill>
                            <a:srgbClr val="183544"/>
                          </a:solidFill>
                        </a:rPr>
                        <a:t>Protection</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Useful gains, with held-out and stress failures against baselines</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Timing</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Spacing changes final loss and the snapshot proxy</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r h="704850">
                <a:tc>
                  <a:txBody>
                    <a:bodyPr lIns="114300" tIns="76200" rIns="114300" bIns="76200"/>
                    <a:lstStyle/>
                    <a:p>
                      <a:r>
                        <a:rPr sz="1650" b="0">
                          <a:solidFill>
                            <a:srgbClr val="183544"/>
                          </a:solidFill>
                        </a:rPr>
                        <a:t>Critical service</a:t>
                      </a:r>
                    </a:p>
                  </a:txBody>
                  <a:tcPr marL="91440" marR="91440" marT="45720" marB="45720" anchor="ctr">
                    <a:lnL w="6668">
                      <a:solidFill>
                        <a:srgbClr val="CED9DA"/>
                      </a:solidFill>
                      <a:prstDash val="solid"/>
                    </a:lnL>
                    <a:lnR w="6668">
                      <a:solidFill>
                        <a:srgbClr val="CED9DA"/>
                      </a:solidFill>
                      <a:prstDash val="solid"/>
                    </a:lnR>
                    <a:lnB w="6668">
                      <a:solidFill>
                        <a:srgbClr val="CED9DA"/>
                      </a:solidFill>
                      <a:prstDash val="solid"/>
                    </a:lnB>
                    <a:solidFill>
                      <a:srgbClr val="F5F3EE"/>
                    </a:solidFill>
                  </a:tcPr>
                </a:tc>
                <a:tc>
                  <a:txBody>
                    <a:bodyPr lIns="114300" tIns="76200" rIns="114300" bIns="76200"/>
                    <a:lstStyle/>
                    <a:p>
                      <a:r>
                        <a:rPr sz="1650" b="0">
                          <a:solidFill>
                            <a:srgbClr val="183544"/>
                          </a:solidFill>
                        </a:rPr>
                        <a:t>Better selected service can increase other loss; adverse later cases remain</a:t>
                      </a:r>
                    </a:p>
                  </a:txBody>
                  <a:tcPr marL="91440" marR="91440" marT="45720" marB="45720" anchor="ctr">
                    <a:lnR w="6668">
                      <a:solidFill>
                        <a:srgbClr val="CED9DA"/>
                      </a:solidFill>
                      <a:prstDash val="solid"/>
                    </a:lnR>
                    <a:lnB w="6668">
                      <a:solidFill>
                        <a:srgbClr val="CED9DA"/>
                      </a:solidFill>
                      <a:prstDash val="solid"/>
                    </a:lnB>
                    <a:solidFill>
                      <a:srgbClr val="F5F3EE"/>
                    </a:solidFill>
                  </a:tcPr>
                </a:tc>
              </a:tr>
            </a:tbl>
          </a:graphicData>
        </a:graphic>
      </p:graphicFrame>
      <p:sp>
        <p:nvSpPr>
          <p:cNvPr id="4" name="">
            <a:extLst xmlns:a="http://schemas.openxmlformats.org/drawingml/2006/main">
              <a:ext uri="{FF2B5EF4-FFF2-40B4-BE49-F238E27FC236}">
                <a16:creationId xmlns:a16="http://schemas.microsoft.com/office/drawing/2014/main" id="{32E2FEEB-B7C6-4FC4-9DB5-768949A4CB66}"/>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22</a:t>
            </a:r>
          </a:p>
        </p:txBody>
      </p:sp>
    </p:spTree>
    <p:extLst>
      <p:ext uri="{BB962C8B-B14F-4D97-AF65-F5344CB8AC3E}">
        <p14:creationId xmlns:p14="http://schemas.microsoft.com/office/powerpoint/2010/main" val="1864403202"/>
      </p:ext>
    </p:extLst>
  </p:cSld>
</p:sld>
</file>

<file path=ppt/slides/slide2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181BAD-5C2C-4EC4-BE05-0E81FCAFC994}"/>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Future work motivated by the failures</a:t>
            </a:r>
          </a:p>
        </p:txBody>
      </p:sp>
      <p:sp>
        <p:nvSpPr>
          <p:cNvPr id="3" name="">
            <a:extLst xmlns:a="http://schemas.openxmlformats.org/drawingml/2006/main">
              <a:ext uri="{FF2B5EF4-FFF2-40B4-BE49-F238E27FC236}">
                <a16:creationId xmlns:a16="http://schemas.microsoft.com/office/drawing/2014/main" id="{89FA1DF2-74AC-433E-9EEC-27AD3074899C}"/>
              </a:ext>
            </a:extLst>
          </p:cNvPr>
          <p:cNvSpPr>
            <a:spLocks xmlns:a="http://schemas.openxmlformats.org/drawingml/2006/main" noGrp="1"/>
          </p:cNvSpPr>
          <p:nvPr/>
        </p:nvSpPr>
        <p:spPr>
          <a:xfrm xmlns:a="http://schemas.openxmlformats.org/drawingml/2006/main">
            <a:off x="742950" y="18859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Train protection jointly across demand and response-speed uncertainty.</a:t>
            </a:r>
          </a:p>
        </p:txBody>
      </p:sp>
      <p:sp>
        <p:nvSpPr>
          <p:cNvPr id="4" name="">
            <a:extLst xmlns:a="http://schemas.openxmlformats.org/drawingml/2006/main">
              <a:ext uri="{FF2B5EF4-FFF2-40B4-BE49-F238E27FC236}">
                <a16:creationId xmlns:a16="http://schemas.microsoft.com/office/drawing/2014/main" id="{9A5091DA-9975-468B-AB87-FF38ABEF1E01}"/>
              </a:ext>
            </a:extLst>
          </p:cNvPr>
          <p:cNvSpPr>
            <a:spLocks xmlns:a="http://schemas.openxmlformats.org/drawingml/2006/main" noGrp="1"/>
          </p:cNvSpPr>
          <p:nvPr/>
        </p:nvSpPr>
        <p:spPr>
          <a:xfrm xmlns:a="http://schemas.openxmlformats.org/drawingml/2006/main">
            <a:off x="742950" y="29337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Strengthen critical-loss attack search and vary priority-group assignments.</a:t>
            </a:r>
          </a:p>
        </p:txBody>
      </p:sp>
      <p:sp>
        <p:nvSpPr>
          <p:cNvPr id="5" name="">
            <a:extLst xmlns:a="http://schemas.openxmlformats.org/drawingml/2006/main">
              <a:ext uri="{FF2B5EF4-FFF2-40B4-BE49-F238E27FC236}">
                <a16:creationId xmlns:a16="http://schemas.microsoft.com/office/drawing/2014/main" id="{3150D4C2-5E16-42BE-8DD7-5FCBD8391F54}"/>
              </a:ext>
            </a:extLst>
          </p:cNvPr>
          <p:cNvSpPr>
            <a:spLocks xmlns:a="http://schemas.openxmlformats.org/drawingml/2006/main" noGrp="1"/>
          </p:cNvSpPr>
          <p:nvPr/>
        </p:nvSpPr>
        <p:spPr>
          <a:xfrm xmlns:a="http://schemas.openxmlformats.org/drawingml/2006/main">
            <a:off x="742950" y="39814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Standardize shutdown, dispatch ties and numerical precision.</a:t>
            </a:r>
          </a:p>
        </p:txBody>
      </p:sp>
      <p:sp>
        <p:nvSpPr>
          <p:cNvPr id="6" name="">
            <a:extLst xmlns:a="http://schemas.openxmlformats.org/drawingml/2006/main">
              <a:ext uri="{FF2B5EF4-FFF2-40B4-BE49-F238E27FC236}">
                <a16:creationId xmlns:a16="http://schemas.microsoft.com/office/drawing/2014/main" id="{5F808AEF-F7D6-44EB-8E3E-DC6817A62BC6}"/>
              </a:ext>
            </a:extLst>
          </p:cNvPr>
          <p:cNvSpPr>
            <a:spLocks xmlns:a="http://schemas.openxmlformats.org/drawingml/2006/main" noGrp="1"/>
          </p:cNvSpPr>
          <p:nvPr/>
        </p:nvSpPr>
        <p:spPr>
          <a:xfrm xmlns:a="http://schemas.openxmlformats.org/drawingml/2006/main">
            <a:off x="742950" y="5029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Model continuous ramps, restoration and storage, then test AC feasibility.</a:t>
            </a:r>
          </a:p>
        </p:txBody>
      </p:sp>
      <p:sp>
        <p:nvSpPr>
          <p:cNvPr id="7" name="">
            <a:extLst xmlns:a="http://schemas.openxmlformats.org/drawingml/2006/main">
              <a:ext uri="{FF2B5EF4-FFF2-40B4-BE49-F238E27FC236}">
                <a16:creationId xmlns:a16="http://schemas.microsoft.com/office/drawing/2014/main" id="{D03CF704-8288-4829-91E7-291899815CAD}"/>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23</a:t>
            </a:r>
          </a:p>
        </p:txBody>
      </p:sp>
    </p:spTree>
    <p:extLst>
      <p:ext uri="{BB962C8B-B14F-4D97-AF65-F5344CB8AC3E}">
        <p14:creationId xmlns:p14="http://schemas.microsoft.com/office/powerpoint/2010/main" val="367220243"/>
      </p:ext>
    </p:extLst>
  </p:cSld>
</p:sld>
</file>

<file path=ppt/slides/slide2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AD2892D-1F90-406A-837A-C974A657F693}"/>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544"/>
                </a:solidFill>
              </a:defRPr>
            </a:defPPr>
            <a:lvl1pPr>
              <a:defRPr sz="3150" b="1">
                <a:solidFill>
                  <a:srgbClr val="183544"/>
                </a:solidFill>
              </a:defRPr>
            </a:lvl1pPr>
            <a:lvl2pPr>
              <a:defRPr sz="3150" b="1">
                <a:solidFill>
                  <a:srgbClr val="183544"/>
                </a:solidFill>
              </a:defRPr>
            </a:lvl2pPr>
            <a:lvl3pPr>
              <a:defRPr sz="3150" b="1">
                <a:solidFill>
                  <a:srgbClr val="183544"/>
                </a:solidFill>
              </a:defRPr>
            </a:lvl3pPr>
            <a:lvl4pPr>
              <a:defRPr sz="3150" b="1">
                <a:solidFill>
                  <a:srgbClr val="183544"/>
                </a:solidFill>
              </a:defRPr>
            </a:lvl4pPr>
            <a:lvl5pPr>
              <a:defRPr sz="3150" b="1">
                <a:solidFill>
                  <a:srgbClr val="183544"/>
                </a:solidFill>
              </a:defRPr>
            </a:lvl5pPr>
            <a:lvl6pPr>
              <a:defRPr sz="3150" b="1">
                <a:solidFill>
                  <a:srgbClr val="183544"/>
                </a:solidFill>
              </a:defRPr>
            </a:lvl6pPr>
            <a:lvl7pPr>
              <a:defRPr sz="3150" b="1">
                <a:solidFill>
                  <a:srgbClr val="183544"/>
                </a:solidFill>
              </a:defRPr>
            </a:lvl7pPr>
            <a:lvl8pPr>
              <a:defRPr sz="3150" b="1">
                <a:solidFill>
                  <a:srgbClr val="183544"/>
                </a:solidFill>
              </a:defRPr>
            </a:lvl8pPr>
            <a:lvl9pPr>
              <a:defRPr sz="3150" b="1">
                <a:solidFill>
                  <a:srgbClr val="183544"/>
                </a:solidFill>
              </a:defRPr>
            </a:lvl9pPr>
          </a:lstStyle>
          <a:p xmlns:a="http://schemas.openxmlformats.org/drawingml/2006/main">
            <a:pPr>
              <a:defRPr sz="3150" b="1">
                <a:solidFill>
                  <a:srgbClr val="183544"/>
                </a:solidFill>
              </a:defRPr>
            </a:pPr>
            <a:r>
              <a:rPr sz="3150" b="1">
                <a:solidFill>
                  <a:srgbClr val="183544"/>
                </a:solidFill>
              </a:rPr>
              <a:t>Demonstration and review route</a:t>
            </a:r>
          </a:p>
        </p:txBody>
      </p:sp>
      <p:sp>
        <p:nvSpPr>
          <p:cNvPr id="3" name="">
            <a:extLst xmlns:a="http://schemas.openxmlformats.org/drawingml/2006/main">
              <a:ext uri="{FF2B5EF4-FFF2-40B4-BE49-F238E27FC236}">
                <a16:creationId xmlns:a16="http://schemas.microsoft.com/office/drawing/2014/main" id="{6B5335A3-BAD6-4BB0-B59D-119B4D1401D6}"/>
              </a:ext>
            </a:extLst>
          </p:cNvPr>
          <p:cNvSpPr>
            <a:spLocks xmlns:a="http://schemas.openxmlformats.org/drawingml/2006/main" noGrp="1"/>
          </p:cNvSpPr>
          <p:nvPr/>
        </p:nvSpPr>
        <p:spPr>
          <a:xfrm xmlns:a="http://schemas.openxmlformats.org/drawingml/2006/main">
            <a:off x="742950" y="18859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Open output/demonstration.html for saved protection, timing and priority traces.</a:t>
            </a:r>
          </a:p>
        </p:txBody>
      </p:sp>
      <p:sp>
        <p:nvSpPr>
          <p:cNvPr id="4" name="">
            <a:extLst xmlns:a="http://schemas.openxmlformats.org/drawingml/2006/main">
              <a:ext uri="{FF2B5EF4-FFF2-40B4-BE49-F238E27FC236}">
                <a16:creationId xmlns:a16="http://schemas.microsoft.com/office/drawing/2014/main" id="{60ADE636-545E-4686-9732-C63EFE705A87}"/>
              </a:ext>
            </a:extLst>
          </p:cNvPr>
          <p:cNvSpPr>
            <a:spLocks xmlns:a="http://schemas.openxmlformats.org/drawingml/2006/main" noGrp="1"/>
          </p:cNvSpPr>
          <p:nvPr/>
        </p:nvSpPr>
        <p:spPr>
          <a:xfrm xmlns:a="http://schemas.openxmlformats.org/drawingml/2006/main">
            <a:off x="742950" y="29337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Read grid_model.py, then extensions.py and run_extensions.py.</a:t>
            </a:r>
          </a:p>
        </p:txBody>
      </p:sp>
      <p:sp>
        <p:nvSpPr>
          <p:cNvPr id="5" name="">
            <a:extLst xmlns:a="http://schemas.openxmlformats.org/drawingml/2006/main">
              <a:ext uri="{FF2B5EF4-FFF2-40B4-BE49-F238E27FC236}">
                <a16:creationId xmlns:a16="http://schemas.microsoft.com/office/drawing/2014/main" id="{4C7B7343-2AA0-42F8-AF27-79A4660DA7B1}"/>
              </a:ext>
            </a:extLst>
          </p:cNvPr>
          <p:cNvSpPr>
            <a:spLocks xmlns:a="http://schemas.openxmlformats.org/drawingml/2006/main" noGrp="1"/>
          </p:cNvSpPr>
          <p:nvPr/>
        </p:nvSpPr>
        <p:spPr>
          <a:xfrm xmlns:a="http://schemas.openxmlformats.org/drawingml/2006/main">
            <a:off x="742950" y="39814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Use audit_extensions.py to check paired cohorts and fresh exact replays.</a:t>
            </a:r>
          </a:p>
        </p:txBody>
      </p:sp>
      <p:sp>
        <p:nvSpPr>
          <p:cNvPr id="6" name="">
            <a:extLst xmlns:a="http://schemas.openxmlformats.org/drawingml/2006/main">
              <a:ext uri="{FF2B5EF4-FFF2-40B4-BE49-F238E27FC236}">
                <a16:creationId xmlns:a16="http://schemas.microsoft.com/office/drawing/2014/main" id="{C7CE0EFD-BA70-4D1F-912B-FB60E6D58482}"/>
              </a:ext>
            </a:extLst>
          </p:cNvPr>
          <p:cNvSpPr>
            <a:spLocks xmlns:a="http://schemas.openxmlformats.org/drawingml/2006/main" noGrp="1"/>
          </p:cNvSpPr>
          <p:nvPr/>
        </p:nvSpPr>
        <p:spPr>
          <a:xfrm xmlns:a="http://schemas.openxmlformats.org/drawingml/2006/main">
            <a:off x="742950" y="5029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544"/>
                </a:solidFill>
              </a:defRPr>
            </a:defPPr>
            <a:lvl1pPr>
              <a:defRPr sz="2175" b="0">
                <a:solidFill>
                  <a:srgbClr val="183544"/>
                </a:solidFill>
              </a:defRPr>
            </a:lvl1pPr>
            <a:lvl2pPr>
              <a:defRPr sz="2175" b="0">
                <a:solidFill>
                  <a:srgbClr val="183544"/>
                </a:solidFill>
              </a:defRPr>
            </a:lvl2pPr>
            <a:lvl3pPr>
              <a:defRPr sz="2175" b="0">
                <a:solidFill>
                  <a:srgbClr val="183544"/>
                </a:solidFill>
              </a:defRPr>
            </a:lvl3pPr>
            <a:lvl4pPr>
              <a:defRPr sz="2175" b="0">
                <a:solidFill>
                  <a:srgbClr val="183544"/>
                </a:solidFill>
              </a:defRPr>
            </a:lvl4pPr>
            <a:lvl5pPr>
              <a:defRPr sz="2175" b="0">
                <a:solidFill>
                  <a:srgbClr val="183544"/>
                </a:solidFill>
              </a:defRPr>
            </a:lvl5pPr>
            <a:lvl6pPr>
              <a:defRPr sz="2175" b="0">
                <a:solidFill>
                  <a:srgbClr val="183544"/>
                </a:solidFill>
              </a:defRPr>
            </a:lvl6pPr>
            <a:lvl7pPr>
              <a:defRPr sz="2175" b="0">
                <a:solidFill>
                  <a:srgbClr val="183544"/>
                </a:solidFill>
              </a:defRPr>
            </a:lvl7pPr>
            <a:lvl8pPr>
              <a:defRPr sz="2175" b="0">
                <a:solidFill>
                  <a:srgbClr val="183544"/>
                </a:solidFill>
              </a:defRPr>
            </a:lvl8pPr>
            <a:lvl9pPr>
              <a:defRPr sz="2175" b="0">
                <a:solidFill>
                  <a:srgbClr val="183544"/>
                </a:solidFill>
              </a:defRPr>
            </a:lvl9pPr>
          </a:lstStyle>
          <a:p xmlns:a="http://schemas.openxmlformats.org/drawingml/2006/main">
            <a:pPr>
              <a:defRPr sz="2175" b="0">
                <a:solidFill>
                  <a:srgbClr val="183544"/>
                </a:solidFill>
              </a:defRPr>
            </a:pPr>
            <a:r>
              <a:rPr sz="2175" b="0">
                <a:solidFill>
                  <a:srgbClr val="183544"/>
                </a:solidFill>
              </a:rPr>
              <a:t>Full derivations, results and limitations are in the separate PDF report.</a:t>
            </a:r>
          </a:p>
        </p:txBody>
      </p:sp>
      <p:sp>
        <p:nvSpPr>
          <p:cNvPr id="7" name="">
            <a:extLst xmlns:a="http://schemas.openxmlformats.org/drawingml/2006/main">
              <a:ext uri="{FF2B5EF4-FFF2-40B4-BE49-F238E27FC236}">
                <a16:creationId xmlns:a16="http://schemas.microsoft.com/office/drawing/2014/main" id="{260DA209-8844-487E-BA5A-D64E17F20B13}"/>
              </a:ext>
            </a:extLst>
          </p:cNvPr>
          <p:cNvSpPr>
            <a:spLocks xmlns:a="http://schemas.openxmlformats.org/drawingml/2006/main" noGrp="1"/>
          </p:cNvSpPr>
          <p:nvPr/>
        </p:nvSpPr>
        <p:spPr>
          <a:xfrm xmlns:a="http://schemas.openxmlformats.org/drawingml/2006/main">
            <a:off x="11382375" y="64103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747B"/>
                </a:solidFill>
              </a:defRPr>
            </a:defPPr>
            <a:lvl1pPr>
              <a:defRPr sz="1275" b="0">
                <a:solidFill>
                  <a:srgbClr val="62747B"/>
                </a:solidFill>
              </a:defRPr>
            </a:lvl1pPr>
            <a:lvl2pPr>
              <a:defRPr sz="1275" b="0">
                <a:solidFill>
                  <a:srgbClr val="62747B"/>
                </a:solidFill>
              </a:defRPr>
            </a:lvl2pPr>
            <a:lvl3pPr>
              <a:defRPr sz="1275" b="0">
                <a:solidFill>
                  <a:srgbClr val="62747B"/>
                </a:solidFill>
              </a:defRPr>
            </a:lvl3pPr>
            <a:lvl4pPr>
              <a:defRPr sz="1275" b="0">
                <a:solidFill>
                  <a:srgbClr val="62747B"/>
                </a:solidFill>
              </a:defRPr>
            </a:lvl4pPr>
            <a:lvl5pPr>
              <a:defRPr sz="1275" b="0">
                <a:solidFill>
                  <a:srgbClr val="62747B"/>
                </a:solidFill>
              </a:defRPr>
            </a:lvl5pPr>
            <a:lvl6pPr>
              <a:defRPr sz="1275" b="0">
                <a:solidFill>
                  <a:srgbClr val="62747B"/>
                </a:solidFill>
              </a:defRPr>
            </a:lvl6pPr>
            <a:lvl7pPr>
              <a:defRPr sz="1275" b="0">
                <a:solidFill>
                  <a:srgbClr val="62747B"/>
                </a:solidFill>
              </a:defRPr>
            </a:lvl7pPr>
            <a:lvl8pPr>
              <a:defRPr sz="1275" b="0">
                <a:solidFill>
                  <a:srgbClr val="62747B"/>
                </a:solidFill>
              </a:defRPr>
            </a:lvl8pPr>
            <a:lvl9pPr>
              <a:defRPr sz="1275" b="0">
                <a:solidFill>
                  <a:srgbClr val="62747B"/>
                </a:solidFill>
              </a:defRPr>
            </a:lvl9pPr>
          </a:lstStyle>
          <a:p xmlns:a="http://schemas.openxmlformats.org/drawingml/2006/main">
            <a:pPr>
              <a:defRPr sz="1275" b="0">
                <a:solidFill>
                  <a:srgbClr val="62747B"/>
                </a:solidFill>
              </a:defRPr>
            </a:pPr>
            <a:r>
              <a:rPr sz="1275" b="0">
                <a:solidFill>
                  <a:srgbClr val="62747B"/>
                </a:solidFill>
              </a:rPr>
              <a:t>24</a:t>
            </a:r>
          </a:p>
        </p:txBody>
      </p:sp>
    </p:spTree>
    <p:extLst>
      <p:ext uri="{BB962C8B-B14F-4D97-AF65-F5344CB8AC3E}">
        <p14:creationId xmlns:p14="http://schemas.microsoft.com/office/powerpoint/2010/main" val="1160315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2026-10-29T10:36:15.6050000Z</dcterms:created>
  <dcterms:modified xsi:type="dcterms:W3CDTF">2026-10-29T10:36:15.6050000Z</dcterms:modified>
</coreProperties>
</file>